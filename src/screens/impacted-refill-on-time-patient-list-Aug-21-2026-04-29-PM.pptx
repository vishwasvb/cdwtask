
<file path=[Content_Types].xml><?xml version="1.0" encoding="utf-8"?>
<Types xmlns="http://schemas.openxmlformats.org/package/2006/content-types">
  <Default Extension="xml" ContentType="application/xml"/>
  <Default Extension="rels" ContentType="application/vnd.openxmlformats-package.relationships+xml"/>
  <Default Extension="jpeg" ContentType="image/jpeg"/>
  <Default Extension="jpg" ContentType="image/jpg"/>
  <Default Extension="svg" ContentType="image/svg+xml"/>
  <Default Extension="png" ContentType="image/png"/>
  <Default Extension="gif" ContentType="image/gif"/>
  <Default Extension="m4v" ContentType="video/mp4"/>
  <Default Extension="mp4" ContentType="video/mp4"/>
  <Default Extension="vml" ContentType="application/vnd.openxmlformats-officedocument.vmlDrawing"/>
  <Default Extension="xlsx" ContentType="application/vnd.openxmlformats-officedocument.spreadsheetml.sheet"/>
  <Override PartName="/ppt/presentation.xml" ContentType="application/vnd.openxmlformats-officedocument.presentationml.presentation.main+xml"/>
  <Override PartName="/ppt/notesMasters/notesMaster1.xml" ContentType="application/vnd.openxmlformats-officedocument.presentationml.notesMaster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Masters/slideMaster2.xml" ContentType="application/vnd.openxmlformats-officedocument.presentationml.slideMaster+xml"/>
  <Override PartName="/ppt/slides/slide2.xml" ContentType="application/vnd.openxmlformats-officedocument.presentationml.slide+xml"/>
  <Override PartName="/ppt/slideMasters/slideMaster3.xml" ContentType="application/vnd.openxmlformats-officedocument.presentationml.slideMaster+xml"/>
  <Override PartName="/ppt/slides/slide3.xml" ContentType="application/vnd.openxmlformats-officedocument.presentationml.slide+xml"/>
  <Override PartName="/ppt/slideMasters/slideMaster4.xml" ContentType="application/vnd.openxmlformats-officedocument.presentationml.slideMaster+xml"/>
  <Override PartName="/ppt/slides/slide4.xml" ContentType="application/vnd.openxmlformats-officedocument.presentationml.slide+xml"/>
  <Override PartName="/ppt/slideMasters/slideMaster5.xml" ContentType="application/vnd.openxmlformats-officedocument.presentationml.slideMaster+xml"/>
  <Override PartName="/ppt/slides/slide5.xml" ContentType="application/vnd.openxmlformats-officedocument.presentationml.slide+xml"/>
  <Override PartName="/ppt/slideMasters/slideMaster6.xml" ContentType="application/vnd.openxmlformats-officedocument.presentationml.slideMaster+xml"/>
  <Override PartName="/ppt/slides/slide6.xml" ContentType="application/vnd.openxmlformats-officedocument.presentationml.slide+xml"/>
  <Override PartName="/ppt/slideMasters/slideMaster7.xml" ContentType="application/vnd.openxmlformats-officedocument.presentationml.slideMaster+xml"/>
  <Override PartName="/ppt/slides/slide7.xml" ContentType="application/vnd.openxmlformats-officedocument.presentationml.slide+xml"/>
  <Override PartName="/ppt/slideMasters/slideMaster8.xml" ContentType="application/vnd.openxmlformats-officedocument.presentationml.slideMaster+xml"/>
  <Override PartName="/ppt/slides/slide8.xml" ContentType="application/vnd.openxmlformats-officedocument.presentationml.slide+xml"/>
  <Override PartName="/ppt/slideMasters/slideMaster9.xml" ContentType="application/vnd.openxmlformats-officedocument.presentationml.slideMaster+xml"/>
  <Override PartName="/ppt/slides/slide9.xml" ContentType="application/vnd.openxmlformats-officedocument.presentationml.slide+xml"/>
  <Override PartName="/ppt/slideMasters/slideMaster10.xml" ContentType="application/vnd.openxmlformats-officedocument.presentationml.slideMaster+xml"/>
  <Override PartName="/ppt/slides/slide10.xml" ContentType="application/vnd.openxmlformats-officedocument.presentationml.slide+xml"/>
  <Override PartName="/ppt/slideMasters/slideMaster11.xml" ContentType="application/vnd.openxmlformats-officedocument.presentationml.slideMaster+xml"/>
  <Override PartName="/ppt/slides/slide11.xml" ContentType="application/vnd.openxmlformats-officedocument.presentationml.slide+xml"/>
  <Override PartName="/ppt/slideMasters/slideMaster12.xml" ContentType="application/vnd.openxmlformats-officedocument.presentationml.slideMaster+xml"/>
  <Override PartName="/ppt/slides/slide12.xml" ContentType="application/vnd.openxmlformats-officedocument.presentationml.slide+xml"/>
  <Override PartName="/ppt/slideMasters/slideMaster13.xml" ContentType="application/vnd.openxmlformats-officedocument.presentationml.slideMaster+xml"/>
  <Override PartName="/ppt/slides/slide13.xml" ContentType="application/vnd.openxmlformats-officedocument.presentationml.slide+xml"/>
  <Override PartName="/ppt/slideMasters/slideMaster14.xml" ContentType="application/vnd.openxmlformats-officedocument.presentationml.slideMaster+xml"/>
  <Override PartName="/ppt/slides/slide14.xml" ContentType="application/vnd.openxmlformats-officedocument.presentationml.slide+xml"/>
  <Override PartName="/ppt/slideMasters/slideMaster15.xml" ContentType="application/vnd.openxmlformats-officedocument.presentationml.slideMaster+xml"/>
  <Override PartName="/ppt/slides/slide15.xml" ContentType="application/vnd.openxmlformats-officedocument.presentationml.slide+xml"/>
  <Override PartName="/ppt/slideMasters/slideMaster16.xml" ContentType="application/vnd.openxmlformats-officedocument.presentationml.slideMaster+xml"/>
  <Override PartName="/ppt/slides/slide16.xml" ContentType="application/vnd.openxmlformats-officedocument.presentationml.slide+xml"/>
  <Override PartName="/ppt/slideMasters/slideMaster17.xml" ContentType="application/vnd.openxmlformats-officedocument.presentationml.slideMaster+xml"/>
  <Override PartName="/ppt/slides/slide17.xml" ContentType="application/vnd.openxmlformats-officedocument.presentationml.slide+xml"/>
  <Override PartName="/ppt/slideMasters/slideMaster18.xml" ContentType="application/vnd.openxmlformats-officedocument.presentationml.slideMaster+xml"/>
  <Override PartName="/ppt/slides/slide18.xml" ContentType="application/vnd.openxmlformats-officedocument.presentationml.slide+xml"/>
  <Override PartName="/ppt/slideMasters/slideMaster19.xml" ContentType="application/vnd.openxmlformats-officedocument.presentationml.slideMaster+xml"/>
  <Override PartName="/ppt/slides/slide19.xml" ContentType="application/vnd.openxmlformats-officedocument.presentationml.slide+xml"/>
  <Override PartName="/ppt/slideMasters/slideMaster20.xml" ContentType="application/vnd.openxmlformats-officedocument.presentationml.slideMaster+xml"/>
  <Override PartName="/ppt/slides/slide20.xml" ContentType="application/vnd.openxmlformats-officedocument.presentationml.slide+xml"/>
  <Override PartName="/ppt/slideMasters/slideMaster21.xml" ContentType="application/vnd.openxmlformats-officedocument.presentationml.slideMaster+xml"/>
  <Override PartName="/ppt/slides/slide21.xml" ContentType="application/vnd.openxmlformats-officedocument.presentationml.slide+xml"/>
  <Override PartName="/ppt/slideMasters/slideMaster22.xml" ContentType="application/vnd.openxmlformats-officedocument.presentationml.slideMaster+xml"/>
  <Override PartName="/ppt/slides/slide22.xml" ContentType="application/vnd.openxmlformats-officedocument.presentationml.slide+xml"/>
  <Override PartName="/ppt/slideMasters/slideMaster23.xml" ContentType="application/vnd.openxmlformats-officedocument.presentationml.slideMaster+xml"/>
  <Override PartName="/ppt/slides/slide23.xml" ContentType="application/vnd.openxmlformats-officedocument.presentationml.slide+xml"/>
  <Override PartName="/ppt/slideMasters/slideMaster24.xml" ContentType="application/vnd.openxmlformats-officedocument.presentationml.slideMaster+xml"/>
  <Override PartName="/ppt/slides/slide24.xml" ContentType="application/vnd.openxmlformats-officedocument.presentationml.slide+xml"/>
  <Override PartName="/ppt/slideMasters/slideMaster25.xml" ContentType="application/vnd.openxmlformats-officedocument.presentationml.slideMaster+xml"/>
  <Override PartName="/ppt/slides/slide25.xml" ContentType="application/vnd.openxmlformats-officedocument.presentationml.slide+xml"/>
  <Override PartName="/ppt/slideMasters/slideMaster26.xml" ContentType="application/vnd.openxmlformats-officedocument.presentationml.slideMaster+xml"/>
  <Override PartName="/ppt/slides/slide26.xml" ContentType="application/vnd.openxmlformats-officedocument.presentationml.slide+xml"/>
  <Override PartName="/ppt/slideMasters/slideMaster27.xml" ContentType="application/vnd.openxmlformats-officedocument.presentationml.slideMaster+xml"/>
  <Override PartName="/ppt/slides/slide27.xml" ContentType="application/vnd.openxmlformats-officedocument.presentationml.slide+xml"/>
  <Override PartName="/ppt/slideMasters/slideMaster28.xml" ContentType="application/vnd.openxmlformats-officedocument.presentationml.slideMaster+xml"/>
  <Override PartName="/ppt/slides/slide28.xml" ContentType="application/vnd.openxmlformats-officedocument.presentationml.slide+xml"/>
  <Override PartName="/ppt/slideMasters/slideMaster29.xml" ContentType="application/vnd.openxmlformats-officedocument.presentationml.slideMaster+xml"/>
  <Override PartName="/ppt/slides/slide29.xml" ContentType="application/vnd.openxmlformats-officedocument.presentationml.slide+xml"/>
  <Override PartName="/ppt/slideMasters/slideMaster30.xml" ContentType="application/vnd.openxmlformats-officedocument.presentationml.slideMaster+xml"/>
  <Override PartName="/ppt/slides/slide30.xml" ContentType="application/vnd.openxmlformats-officedocument.presentationml.slide+xml"/>
  <Override PartName="/ppt/slideMasters/slideMaster31.xml" ContentType="application/vnd.openxmlformats-officedocument.presentationml.slideMaster+xml"/>
  <Override PartName="/ppt/slides/slide31.xml" ContentType="application/vnd.openxmlformats-officedocument.presentationml.slide+xml"/>
  <Override PartName="/ppt/slideMasters/slideMaster32.xml" ContentType="application/vnd.openxmlformats-officedocument.presentationml.slideMaster+xml"/>
  <Override PartName="/ppt/slides/slide32.xml" ContentType="application/vnd.openxmlformats-officedocument.presentationml.slide+xml"/>
  <Override PartName="/ppt/slideMasters/slideMaster33.xml" ContentType="application/vnd.openxmlformats-officedocument.presentationml.slideMaster+xml"/>
  <Override PartName="/ppt/slides/slide33.xml" ContentType="application/vnd.openxmlformats-officedocument.presentationml.slide+xml"/>
  <Override PartName="/ppt/slideMasters/slideMaster34.xml" ContentType="application/vnd.openxmlformats-officedocument.presentationml.slideMaster+xml"/>
  <Override PartName="/ppt/slides/slide34.xml" ContentType="application/vnd.openxmlformats-officedocument.presentationml.slide+xml"/>
  <Override PartName="/ppt/slideMasters/slideMaster35.xml" ContentType="application/vnd.openxmlformats-officedocument.presentationml.slideMaster+xml"/>
  <Override PartName="/ppt/slides/slide35.xml" ContentType="application/vnd.openxmlformats-officedocument.presentationml.slide+xml"/>
  <Override PartName="/ppt/slideMasters/slideMaster36.xml" ContentType="application/vnd.openxmlformats-officedocument.presentationml.slideMaster+xml"/>
  <Override PartName="/ppt/slides/slide36.xml" ContentType="application/vnd.openxmlformats-officedocument.presentationml.slide+xml"/>
  <Override PartName="/ppt/slideMasters/slideMaster37.xml" ContentType="application/vnd.openxmlformats-officedocument.presentationml.slideMaster+xml"/>
  <Override PartName="/ppt/slides/slide37.xml" ContentType="application/vnd.openxmlformats-officedocument.presentationml.slide+xml"/>
  <Override PartName="/ppt/slideMasters/slideMaster38.xml" ContentType="application/vnd.openxmlformats-officedocument.presentationml.slideMaster+xml"/>
  <Override PartName="/ppt/slides/slide38.xml" ContentType="application/vnd.openxmlformats-officedocument.presentationml.slide+xml"/>
  <Override PartName="/ppt/slideMasters/slideMaster39.xml" ContentType="application/vnd.openxmlformats-officedocument.presentationml.slideMaster+xml"/>
  <Override PartName="/ppt/slides/slide39.xml" ContentType="application/vnd.openxmlformats-officedocument.presentationml.slide+xml"/>
  <Override PartName="/ppt/slideMasters/slideMaster40.xml" ContentType="application/vnd.openxmlformats-officedocument.presentationml.slideMaster+xml"/>
  <Override PartName="/ppt/slides/slide40.xml" ContentType="application/vnd.openxmlformats-officedocument.presentationml.slide+xml"/>
  <Override PartName="/ppt/slideMasters/slideMaster41.xml" ContentType="application/vnd.openxmlformats-officedocument.presentationml.slideMaster+xml"/>
  <Override PartName="/ppt/slides/slide41.xml" ContentType="application/vnd.openxmlformats-officedocument.presentationml.slide+xml"/>
  <Override PartName="/ppt/slideMasters/slideMaster42.xml" ContentType="application/vnd.openxmlformats-officedocument.presentationml.slideMaster+xml"/>
  <Override PartName="/ppt/slides/slide42.xml" ContentType="application/vnd.openxmlformats-officedocument.presentationml.slide+xml"/>
  <Override PartName="/ppt/slideMasters/slideMaster43.xml" ContentType="application/vnd.openxmlformats-officedocument.presentationml.slideMaster+xml"/>
  <Override PartName="/ppt/slides/slide43.xml" ContentType="application/vnd.openxmlformats-officedocument.presentationml.slide+xml"/>
  <Override PartName="/ppt/slideMasters/slideMaster44.xml" ContentType="application/vnd.openxmlformats-officedocument.presentationml.slideMaster+xml"/>
  <Override PartName="/ppt/slides/slide44.xml" ContentType="application/vnd.openxmlformats-officedocument.presentationml.slide+xml"/>
  <Override PartName="/ppt/slideMasters/slideMaster45.xml" ContentType="application/vnd.openxmlformats-officedocument.presentationml.slideMaster+xml"/>
  <Override PartName="/ppt/slides/slide45.xml" ContentType="application/vnd.openxmlformats-officedocument.presentationml.slide+xml"/>
  <Override PartName="/ppt/slideMasters/slideMaster46.xml" ContentType="application/vnd.openxmlformats-officedocument.presentationml.slideMaster+xml"/>
  <Override PartName="/ppt/slides/slide46.xml" ContentType="application/vnd.openxmlformats-officedocument.presentationml.slide+xml"/>
  <Override PartName="/ppt/slideMasters/slideMaster47.xml" ContentType="application/vnd.openxmlformats-officedocument.presentationml.slideMaster+xml"/>
  <Override PartName="/ppt/slides/slide47.xml" ContentType="application/vnd.openxmlformats-officedocument.presentationml.slide+xml"/>
  <Override PartName="/ppt/slideMasters/slideMaster48.xml" ContentType="application/vnd.openxmlformats-officedocument.presentationml.slideMaster+xml"/>
  <Override PartName="/ppt/slides/slide48.xml" ContentType="application/vnd.openxmlformats-officedocument.presentationml.slide+xml"/>
  <Override PartName="/ppt/slideMasters/slideMaster49.xml" ContentType="application/vnd.openxmlformats-officedocument.presentationml.slideMaster+xml"/>
  <Override PartName="/ppt/slides/slide49.xml" ContentType="application/vnd.openxmlformats-officedocument.presentationml.slide+xml"/>
  <Override PartName="/ppt/slideMasters/slideMaster50.xml" ContentType="application/vnd.openxmlformats-officedocument.presentationml.slideMaster+xml"/>
  <Override PartName="/ppt/slides/slide50.xml" ContentType="application/vnd.openxmlformats-officedocument.presentationml.slide+xml"/>
  <Override PartName="/ppt/slideMasters/slideMaster51.xml" ContentType="application/vnd.openxmlformats-officedocument.presentationml.slideMaster+xml"/>
  <Override PartName="/ppt/slides/slide51.xml" ContentType="application/vnd.openxmlformats-officedocument.presentationml.slide+xml"/>
  <Override PartName="/ppt/slideMasters/slideMaster52.xml" ContentType="application/vnd.openxmlformats-officedocument.presentationml.slideMaster+xml"/>
  <Override PartName="/ppt/slides/slide52.xml" ContentType="application/vnd.openxmlformats-officedocument.presentationml.slide+xml"/>
  <Override PartName="/ppt/slideMasters/slideMaster53.xml" ContentType="application/vnd.openxmlformats-officedocument.presentationml.slideMaster+xml"/>
  <Override PartName="/ppt/slides/slide53.xml" ContentType="application/vnd.openxmlformats-officedocument.presentationml.slide+xml"/>
  <Override PartName="/ppt/slideMasters/slideMaster54.xml" ContentType="application/vnd.openxmlformats-officedocument.presentationml.slideMaster+xml"/>
  <Override PartName="/ppt/slides/slide54.xml" ContentType="application/vnd.openxmlformats-officedocument.presentationml.slide+xml"/>
  <Override PartName="/ppt/slideMasters/slideMaster55.xml" ContentType="application/vnd.openxmlformats-officedocument.presentationml.slideMaster+xml"/>
  <Override PartName="/ppt/slides/slide55.xml" ContentType="application/vnd.openxmlformats-officedocument.presentationml.slide+xml"/>
  <Override PartName="/ppt/slideMasters/slideMaster56.xml" ContentType="application/vnd.openxmlformats-officedocument.presentationml.slideMaster+xml"/>
  <Override PartName="/ppt/slides/slide56.xml" ContentType="application/vnd.openxmlformats-officedocument.presentationml.slide+xml"/>
  <Override PartName="/ppt/slideMasters/slideMaster57.xml" ContentType="application/vnd.openxmlformats-officedocument.presentationml.slideMaster+xml"/>
  <Override PartName="/ppt/slides/slide57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
		<Relationship Id="rId1" Type="http://schemas.openxmlformats.org/officeDocument/2006/relationships/extended-properties" Target="docProps/app.xml"/>
		<Relationship Id="rId2" Type="http://schemas.openxmlformats.org/package/2006/relationships/metadata/core-properties" Target="docProps/core.xml"/>
		<Relationship Id="rId3" Type="http://schemas.openxmlformats.org/officeDocument/2006/relationships/officeDocument" Target="ppt/presentation.xml"/>
		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648" r:id="rId1"/>
  </p:sldMasterIdLst>
  <p:sldIdLst>
    <p:sldId id="256" r:id="rId2"/>
    <p:sldId id="257" r:id="rId3"/>
    <p:sldId id="258" r:id="rId4"/>
    <p:sldId id="259" r:id="rId5"/>
    <p:sldId id="260" r:id="rId6"/>
    <p:sldId id="261" r:id="rId7"/>
    <p:sldId id="262" r:id="rId8"/>
    <p:sldId id="263" r:id="rId9"/>
    <p:sldId id="264" r:id="rId10"/>
    <p:sldId id="265" r:id="rId11"/>
    <p:sldId id="266" r:id="rId12"/>
    <p:sldId id="267" r:id="rId13"/>
    <p:sldId id="268" r:id="rId14"/>
    <p:sldId id="269" r:id="rId15"/>
    <p:sldId id="270" r:id="rId16"/>
    <p:sldId id="271" r:id="rId17"/>
    <p:sldId id="272" r:id="rId18"/>
    <p:sldId id="273" r:id="rId19"/>
    <p:sldId id="274" r:id="rId20"/>
    <p:sldId id="275" r:id="rId21"/>
    <p:sldId id="276" r:id="rId22"/>
    <p:sldId id="277" r:id="rId23"/>
    <p:sldId id="278" r:id="rId24"/>
    <p:sldId id="279" r:id="rId25"/>
    <p:sldId id="280" r:id="rId26"/>
    <p:sldId id="281" r:id="rId27"/>
    <p:sldId id="282" r:id="rId28"/>
    <p:sldId id="283" r:id="rId29"/>
    <p:sldId id="284" r:id="rId30"/>
    <p:sldId id="285" r:id="rId31"/>
    <p:sldId id="286" r:id="rId32"/>
    <p:sldId id="287" r:id="rId33"/>
    <p:sldId id="288" r:id="rId34"/>
    <p:sldId id="289" r:id="rId35"/>
    <p:sldId id="290" r:id="rId36"/>
    <p:sldId id="291" r:id="rId37"/>
    <p:sldId id="292" r:id="rId38"/>
    <p:sldId id="293" r:id="rId39"/>
    <p:sldId id="294" r:id="rId40"/>
    <p:sldId id="295" r:id="rId41"/>
    <p:sldId id="296" r:id="rId42"/>
    <p:sldId id="297" r:id="rId43"/>
    <p:sldId id="298" r:id="rId44"/>
    <p:sldId id="299" r:id="rId45"/>
    <p:sldId id="300" r:id="rId46"/>
    <p:sldId id="301" r:id="rId47"/>
    <p:sldId id="302" r:id="rId48"/>
    <p:sldId id="303" r:id="rId49"/>
    <p:sldId id="304" r:id="rId50"/>
    <p:sldId id="305" r:id="rId51"/>
    <p:sldId id="306" r:id="rId52"/>
    <p:sldId id="307" r:id="rId53"/>
    <p:sldId id="308" r:id="rId54"/>
    <p:sldId id="309" r:id="rId55"/>
    <p:sldId id="310" r:id="rId56"/>
    <p:sldId id="311" r:id="rId57"/>
    <p:sldId id="312" r:id="rId58"/>
  </p:sldIdLst>
  <p:notesMasterIdLst>
    <p:notesMasterId r:id="rId59"/>
  </p:notesMasterIdLst>
  <p:sldSz cx="12188952" cy="6858000"/>
  <p:notesSz cx="6858000" cy="12188952"/>
  <p:defaultTextStyle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/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5611"/>
    <p:restoredTop sz="94610"/>
  </p:normalViewPr>
  <p:slideViewPr>
    <p:cSldViewPr snapToGrid="0" snapToObjects="1">
      <p:cViewPr varScale="1">
        <p:scale>
          <a:sx n="136" d="100"/>
          <a:sy n="136" d="100"/>
        </p:scale>
        <p:origin x="216" y="312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1" Type="http://schemas.openxmlformats.org/officeDocument/2006/relationships/slideMaster" Target="slideMasters/slideMaster1.xml"/><Relationship Id="rId2" Type="http://schemas.openxmlformats.org/officeDocument/2006/relationships/slide" Target="slides/slide1.xml"/><Relationship Id="rId3" Type="http://schemas.openxmlformats.org/officeDocument/2006/relationships/slide" Target="slides/slide2.xml"/><Relationship Id="rId4" Type="http://schemas.openxmlformats.org/officeDocument/2006/relationships/slide" Target="slides/slide3.xml"/><Relationship Id="rId5" Type="http://schemas.openxmlformats.org/officeDocument/2006/relationships/slide" Target="slides/slide4.xml"/><Relationship Id="rId6" Type="http://schemas.openxmlformats.org/officeDocument/2006/relationships/slide" Target="slides/slide5.xml"/><Relationship Id="rId7" Type="http://schemas.openxmlformats.org/officeDocument/2006/relationships/slide" Target="slides/slide6.xml"/><Relationship Id="rId8" Type="http://schemas.openxmlformats.org/officeDocument/2006/relationships/slide" Target="slides/slide7.xml"/><Relationship Id="rId9" Type="http://schemas.openxmlformats.org/officeDocument/2006/relationships/slide" Target="slides/slide8.xml"/><Relationship Id="rId10" Type="http://schemas.openxmlformats.org/officeDocument/2006/relationships/slide" Target="slides/slide9.xml"/><Relationship Id="rId11" Type="http://schemas.openxmlformats.org/officeDocument/2006/relationships/slide" Target="slides/slide10.xml"/><Relationship Id="rId12" Type="http://schemas.openxmlformats.org/officeDocument/2006/relationships/slide" Target="slides/slide11.xml"/><Relationship Id="rId13" Type="http://schemas.openxmlformats.org/officeDocument/2006/relationships/slide" Target="slides/slide12.xml"/><Relationship Id="rId14" Type="http://schemas.openxmlformats.org/officeDocument/2006/relationships/slide" Target="slides/slide13.xml"/><Relationship Id="rId15" Type="http://schemas.openxmlformats.org/officeDocument/2006/relationships/slide" Target="slides/slide14.xml"/><Relationship Id="rId16" Type="http://schemas.openxmlformats.org/officeDocument/2006/relationships/slide" Target="slides/slide15.xml"/><Relationship Id="rId17" Type="http://schemas.openxmlformats.org/officeDocument/2006/relationships/slide" Target="slides/slide16.xml"/><Relationship Id="rId18" Type="http://schemas.openxmlformats.org/officeDocument/2006/relationships/slide" Target="slides/slide17.xml"/><Relationship Id="rId19" Type="http://schemas.openxmlformats.org/officeDocument/2006/relationships/slide" Target="slides/slide18.xml"/><Relationship Id="rId20" Type="http://schemas.openxmlformats.org/officeDocument/2006/relationships/slide" Target="slides/slide19.xml"/><Relationship Id="rId21" Type="http://schemas.openxmlformats.org/officeDocument/2006/relationships/slide" Target="slides/slide20.xml"/><Relationship Id="rId22" Type="http://schemas.openxmlformats.org/officeDocument/2006/relationships/slide" Target="slides/slide21.xml"/><Relationship Id="rId23" Type="http://schemas.openxmlformats.org/officeDocument/2006/relationships/slide" Target="slides/slide22.xml"/><Relationship Id="rId24" Type="http://schemas.openxmlformats.org/officeDocument/2006/relationships/slide" Target="slides/slide23.xml"/><Relationship Id="rId25" Type="http://schemas.openxmlformats.org/officeDocument/2006/relationships/slide" Target="slides/slide24.xml"/><Relationship Id="rId26" Type="http://schemas.openxmlformats.org/officeDocument/2006/relationships/slide" Target="slides/slide25.xml"/><Relationship Id="rId27" Type="http://schemas.openxmlformats.org/officeDocument/2006/relationships/slide" Target="slides/slide26.xml"/><Relationship Id="rId28" Type="http://schemas.openxmlformats.org/officeDocument/2006/relationships/slide" Target="slides/slide27.xml"/><Relationship Id="rId29" Type="http://schemas.openxmlformats.org/officeDocument/2006/relationships/slide" Target="slides/slide28.xml"/><Relationship Id="rId30" Type="http://schemas.openxmlformats.org/officeDocument/2006/relationships/slide" Target="slides/slide29.xml"/><Relationship Id="rId31" Type="http://schemas.openxmlformats.org/officeDocument/2006/relationships/slide" Target="slides/slide30.xml"/><Relationship Id="rId32" Type="http://schemas.openxmlformats.org/officeDocument/2006/relationships/slide" Target="slides/slide31.xml"/><Relationship Id="rId33" Type="http://schemas.openxmlformats.org/officeDocument/2006/relationships/slide" Target="slides/slide32.xml"/><Relationship Id="rId34" Type="http://schemas.openxmlformats.org/officeDocument/2006/relationships/slide" Target="slides/slide33.xml"/><Relationship Id="rId35" Type="http://schemas.openxmlformats.org/officeDocument/2006/relationships/slide" Target="slides/slide34.xml"/><Relationship Id="rId36" Type="http://schemas.openxmlformats.org/officeDocument/2006/relationships/slide" Target="slides/slide35.xml"/><Relationship Id="rId37" Type="http://schemas.openxmlformats.org/officeDocument/2006/relationships/slide" Target="slides/slide36.xml"/><Relationship Id="rId38" Type="http://schemas.openxmlformats.org/officeDocument/2006/relationships/slide" Target="slides/slide37.xml"/><Relationship Id="rId39" Type="http://schemas.openxmlformats.org/officeDocument/2006/relationships/slide" Target="slides/slide38.xml"/><Relationship Id="rId40" Type="http://schemas.openxmlformats.org/officeDocument/2006/relationships/slide" Target="slides/slide39.xml"/><Relationship Id="rId41" Type="http://schemas.openxmlformats.org/officeDocument/2006/relationships/slide" Target="slides/slide40.xml"/><Relationship Id="rId42" Type="http://schemas.openxmlformats.org/officeDocument/2006/relationships/slide" Target="slides/slide41.xml"/><Relationship Id="rId43" Type="http://schemas.openxmlformats.org/officeDocument/2006/relationships/slide" Target="slides/slide42.xml"/><Relationship Id="rId44" Type="http://schemas.openxmlformats.org/officeDocument/2006/relationships/slide" Target="slides/slide43.xml"/><Relationship Id="rId45" Type="http://schemas.openxmlformats.org/officeDocument/2006/relationships/slide" Target="slides/slide44.xml"/><Relationship Id="rId46" Type="http://schemas.openxmlformats.org/officeDocument/2006/relationships/slide" Target="slides/slide45.xml"/><Relationship Id="rId47" Type="http://schemas.openxmlformats.org/officeDocument/2006/relationships/slide" Target="slides/slide46.xml"/><Relationship Id="rId48" Type="http://schemas.openxmlformats.org/officeDocument/2006/relationships/slide" Target="slides/slide47.xml"/><Relationship Id="rId49" Type="http://schemas.openxmlformats.org/officeDocument/2006/relationships/slide" Target="slides/slide48.xml"/><Relationship Id="rId50" Type="http://schemas.openxmlformats.org/officeDocument/2006/relationships/slide" Target="slides/slide49.xml"/><Relationship Id="rId51" Type="http://schemas.openxmlformats.org/officeDocument/2006/relationships/slide" Target="slides/slide50.xml"/><Relationship Id="rId52" Type="http://schemas.openxmlformats.org/officeDocument/2006/relationships/slide" Target="slides/slide51.xml"/><Relationship Id="rId53" Type="http://schemas.openxmlformats.org/officeDocument/2006/relationships/slide" Target="slides/slide52.xml"/><Relationship Id="rId54" Type="http://schemas.openxmlformats.org/officeDocument/2006/relationships/slide" Target="slides/slide53.xml"/><Relationship Id="rId55" Type="http://schemas.openxmlformats.org/officeDocument/2006/relationships/slide" Target="slides/slide54.xml"/><Relationship Id="rId56" Type="http://schemas.openxmlformats.org/officeDocument/2006/relationships/slide" Target="slides/slide55.xml"/><Relationship Id="rId57" Type="http://schemas.openxmlformats.org/officeDocument/2006/relationships/slide" Target="slides/slide56.xml"/><Relationship Id="rId58" Type="http://schemas.openxmlformats.org/officeDocument/2006/relationships/slide" Target="slides/slide57.xml"/><Relationship Id="rId59" Type="http://schemas.openxmlformats.org/officeDocument/2006/relationships/notesMaster" Target="notesMasters/notesMaster1.xml"/><Relationship Id="rId60" Type="http://schemas.openxmlformats.org/officeDocument/2006/relationships/presProps" Target="presProps.xml"/><Relationship Id="rId61" Type="http://schemas.openxmlformats.org/officeDocument/2006/relationships/viewProps" Target="viewProps.xml"/><Relationship Id="rId62" Type="http://schemas.openxmlformats.org/officeDocument/2006/relationships/theme" Target="theme/theme1.xml"/><Relationship Id="rId63" Type="http://schemas.openxmlformats.org/officeDocument/2006/relationships/tableStyles" Target="tableStyles.xml"/></Relationships>
</file>

<file path=ppt/notesMasters/_rels/notesMaster1.xml.rels><?xml version="1.0" encoding="UTF-8" standalone="yes"?>
<Relationships xmlns="http://schemas.openxmlformats.org/package/2006/relationships">
		<Relationship Id="rId1" Type="http://schemas.openxmlformats.org/officeDocument/2006/relationships/theme" Target="../theme/theme1.xml"/>
		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5282F153-3F37-0F45-9E97-73ACFA13230C}" type="datetimeFigureOut">
              <a:rPr lang="en-US"/>
              <a:t>7/23/19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CE5E9CC1-C706-0F49-92D6-E571CC5EEA8F}" type="slidenum">
              <a:rPr lang="en-US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1.xml"/>
		</Relationships>
</file>

<file path=ppt/notesSlides/_rels/notesSlide2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2.xml"/>
		</Relationships>
</file>

<file path=ppt/notesSlides/_rels/notesSlide3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3.xml"/>
		</Relationships>
</file>

<file path=ppt/notesSlides/_rels/notesSlide4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4.xml"/>
		</Relationships>
</file>

<file path=ppt/notesSlides/_rels/notesSlide5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5.xml"/>
		</Relationships>
</file>

<file path=ppt/notesSlides/_rels/notesSlide6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6.xml"/>
		</Relationships>
</file>

<file path=ppt/notesSlides/_rels/notesSlide7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7.xml"/>
		</Relationships>
</file>

<file path=ppt/notesSlides/_rels/notesSlide8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8.xml"/>
		</Relationships>
</file>

<file path=ppt/notesSlides/_rels/notesSlide9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9.xml"/>
		</Relationships>
</file>

<file path=ppt/notesSlides/_rels/notesSlide10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10.xml"/>
		</Relationships>
</file>

<file path=ppt/notesSlides/_rels/notesSlide11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11.xml"/>
		</Relationships>
</file>

<file path=ppt/notesSlides/_rels/notesSlide12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12.xml"/>
		</Relationships>
</file>

<file path=ppt/notesSlides/_rels/notesSlide13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13.xml"/>
		</Relationships>
</file>

<file path=ppt/notesSlides/_rels/notesSlide14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14.xml"/>
		</Relationships>
</file>

<file path=ppt/notesSlides/_rels/notesSlide15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15.xml"/>
		</Relationships>
</file>

<file path=ppt/notesSlides/_rels/notesSlide16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16.xml"/>
		</Relationships>
</file>

<file path=ppt/notesSlides/_rels/notesSlide17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17.xml"/>
		</Relationships>
</file>

<file path=ppt/notesSlides/_rels/notesSlide18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18.xml"/>
		</Relationships>
</file>

<file path=ppt/notesSlides/_rels/notesSlide19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19.xml"/>
		</Relationships>
</file>

<file path=ppt/notesSlides/_rels/notesSlide20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20.xml"/>
		</Relationships>
</file>

<file path=ppt/notesSlides/_rels/notesSlide21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21.xml"/>
		</Relationships>
</file>

<file path=ppt/notesSlides/_rels/notesSlide22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22.xml"/>
		</Relationships>
</file>

<file path=ppt/notesSlides/_rels/notesSlide23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23.xml"/>
		</Relationships>
</file>

<file path=ppt/notesSlides/_rels/notesSlide24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24.xml"/>
		</Relationships>
</file>

<file path=ppt/notesSlides/_rels/notesSlide25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25.xml"/>
		</Relationships>
</file>

<file path=ppt/notesSlides/_rels/notesSlide26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26.xml"/>
		</Relationships>
</file>

<file path=ppt/notesSlides/_rels/notesSlide27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27.xml"/>
		</Relationships>
</file>

<file path=ppt/notesSlides/_rels/notesSlide28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28.xml"/>
		</Relationships>
</file>

<file path=ppt/notesSlides/_rels/notesSlide29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29.xml"/>
		</Relationships>
</file>

<file path=ppt/notesSlides/_rels/notesSlide30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30.xml"/>
		</Relationships>
</file>

<file path=ppt/notesSlides/_rels/notesSlide31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31.xml"/>
		</Relationships>
</file>

<file path=ppt/notesSlides/_rels/notesSlide32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32.xml"/>
		</Relationships>
</file>

<file path=ppt/notesSlides/_rels/notesSlide33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33.xml"/>
		</Relationships>
</file>

<file path=ppt/notesSlides/_rels/notesSlide34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34.xml"/>
		</Relationships>
</file>

<file path=ppt/notesSlides/_rels/notesSlide35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35.xml"/>
		</Relationships>
</file>

<file path=ppt/notesSlides/_rels/notesSlide36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36.xml"/>
		</Relationships>
</file>

<file path=ppt/notesSlides/_rels/notesSlide37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37.xml"/>
		</Relationships>
</file>

<file path=ppt/notesSlides/_rels/notesSlide38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38.xml"/>
		</Relationships>
</file>

<file path=ppt/notesSlides/_rels/notesSlide39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39.xml"/>
		</Relationships>
</file>

<file path=ppt/notesSlides/_rels/notesSlide40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40.xml"/>
		</Relationships>
</file>

<file path=ppt/notesSlides/_rels/notesSlide41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41.xml"/>
		</Relationships>
</file>

<file path=ppt/notesSlides/_rels/notesSlide42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42.xml"/>
		</Relationships>
</file>

<file path=ppt/notesSlides/_rels/notesSlide43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43.xml"/>
		</Relationships>
</file>

<file path=ppt/notesSlides/_rels/notesSlide44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44.xml"/>
		</Relationships>
</file>

<file path=ppt/notesSlides/_rels/notesSlide45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45.xml"/>
		</Relationships>
</file>

<file path=ppt/notesSlides/_rels/notesSlide46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46.xml"/>
		</Relationships>
</file>

<file path=ppt/notesSlides/_rels/notesSlide47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47.xml"/>
		</Relationships>
</file>

<file path=ppt/notesSlides/_rels/notesSlide48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48.xml"/>
		</Relationships>
</file>

<file path=ppt/notesSlides/_rels/notesSlide49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49.xml"/>
		</Relationships>
</file>

<file path=ppt/notesSlides/_rels/notesSlide50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50.xml"/>
		</Relationships>
</file>

<file path=ppt/notesSlides/_rels/notesSlide51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51.xml"/>
		</Relationships>
</file>

<file path=ppt/notesSlides/_rels/notesSlide52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52.xml"/>
		</Relationships>
</file>

<file path=ppt/notesSlides/_rels/notesSlide53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53.xml"/>
		</Relationships>
</file>

<file path=ppt/notesSlides/_rels/notesSlide54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54.xml"/>
		</Relationships>
</file>

<file path=ppt/notesSlides/_rels/notesSlide55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55.xml"/>
		</Relationships>
</file>

<file path=ppt/notesSlides/_rels/notesSlide56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56.xml"/>
		</Relationships>
</file>

<file path=ppt/notesSlides/_rels/notesSlide57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57.xml"/>
		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10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11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12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13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14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15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16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17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18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19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20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21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22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23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24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25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26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27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28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29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30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31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32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33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34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35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36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37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38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39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40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41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42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43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44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45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46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47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48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49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50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51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52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53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54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55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56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57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DEFAULT"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</p:sldLayoutIdLst>
  <p:hf sldNum="0" hdr="0" ftr="0" dt="0"/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3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4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5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6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7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8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9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0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1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2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3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4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5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6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7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8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9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20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21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22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23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24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25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26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27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28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29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30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31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32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33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34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35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36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37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38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39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40.xml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41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42.xml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43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44.xml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45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46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47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48.xml"/></Relationships>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49.xml"/></Relationships>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50.xml"/></Relationships>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51.xml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52.xml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53.xml"/></Relationships>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54.xml"/></Relationships>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55.xml"/></Relationships>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56.xml"/></Relationships>
</file>

<file path=ppt/slides/_rels/slide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57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1"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0"/>
          <p:cNvSpPr/>
          <p:nvPr/>
        </p:nvSpPr>
        <p:spPr>
          <a:xfrm>
            <a:off x="548640" y="274320"/>
            <a:ext cx="10972800" cy="502920"/>
          </a:xfrm>
          <a:prstGeom prst="rect">
            <a:avLst/>
          </a:prstGeom>
          <a:noFill/>
          <a:ln/>
        </p:spPr>
        <p:txBody>
          <a:bodyPr wrap="square" rtlCol="0" anchor="ctr"/>
          <a:lstStyle/>
          <a:p>
            <a:pPr indent="0" marL="0">
              <a:buNone/>
            </a:pPr>
            <a:r>
              <a:rPr lang="en-US" sz="2400" b="1" dirty="0">
                <a:solidFill>
                  <a:srgbClr val="1A1A1A"/>
                </a:solidFill>
              </a:rPr>
              <a:t>Impacted · Refill on Time — patient list</a:t>
            </a:r>
            <a:endParaRPr lang="en-US" sz="2400" dirty="0"/>
          </a:p>
        </p:txBody>
      </p:sp>
      <p:sp>
        <p:nvSpPr>
          <p:cNvPr id="3" name="Text 1"/>
          <p:cNvSpPr/>
          <p:nvPr/>
        </p:nvSpPr>
        <p:spPr>
          <a:xfrm>
            <a:off x="548640" y="822960"/>
            <a:ext cx="10972800" cy="457200"/>
          </a:xfrm>
          <a:prstGeom prst="rect">
            <a:avLst/>
          </a:prstGeom>
          <a:noFill/>
          <a:ln/>
        </p:spPr>
        <p:txBody>
          <a:bodyPr wrap="square" rtlCol="0" anchor="ctr"/>
          <a:lstStyle/>
          <a:p>
            <a:pPr indent="0" marL="0">
              <a:buNone/>
            </a:pPr>
            <a:r>
              <a:rPr lang="en-US" sz="1100" dirty="0">
                <a:solidFill>
                  <a:srgbClr val="6B7280"/>
                </a:solidFill>
              </a:rPr>
              <a:t>Generated: Aug 21, 2026, 04:29 PM</a:t>
            </a:r>
            <a:endParaRPr lang="en-US" sz="1100" dirty="0"/>
          </a:p>
          <a:p>
            <a:pPr indent="0" marL="0">
              <a:buNone/>
            </a:pPr>
            <a:r>
              <a:rPr lang="en-US" sz="1100" dirty="0">
                <a:solidFill>
                  <a:srgbClr val="6B7280"/>
                </a:solidFill>
              </a:rPr>
              <a:t>Filters: MTD (Aug 01, 2026 – Aug 14, 2026) vs Prior MTD (Jul 01, 2026 – Jul 14, 2026) · All 97 late refills · 1357 rows</a:t>
            </a:r>
            <a:endParaRPr lang="en-US" sz="1100" dirty="0"/>
          </a:p>
        </p:txBody>
      </p:sp>
      <p:sp>
        <p:nvSpPr>
          <p:cNvPr id="4" name="Text 2"/>
          <p:cNvSpPr/>
          <p:nvPr/>
        </p:nvSpPr>
        <p:spPr>
          <a:xfrm>
            <a:off x="548640" y="1417320"/>
            <a:ext cx="10972800" cy="365760"/>
          </a:xfrm>
          <a:prstGeom prst="rect">
            <a:avLst/>
          </a:prstGeom>
          <a:noFill/>
          <a:ln/>
        </p:spPr>
        <p:txBody>
          <a:bodyPr wrap="square" rtlCol="0" anchor="ctr"/>
          <a:lstStyle/>
          <a:p>
            <a:pPr indent="0" marL="0">
              <a:buNone/>
            </a:pPr>
            <a:r>
              <a:rPr lang="en-US" sz="1100" dirty="0">
                <a:solidFill>
                  <a:srgbClr val="374151"/>
                </a:solidFill>
              </a:rPr>
              <a:t>1357 rows</a:t>
            </a:r>
            <a:endParaRPr lang="en-US" sz="1100" dirty="0"/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0"/>
          <p:cNvSpPr/>
          <p:nvPr/>
        </p:nvSpPr>
        <p:spPr>
          <a:xfrm>
            <a:off x="548640" y="274320"/>
            <a:ext cx="10972800" cy="457200"/>
          </a:xfrm>
          <a:prstGeom prst="rect">
            <a:avLst/>
          </a:prstGeom>
          <a:noFill/>
          <a:ln/>
        </p:spPr>
        <p:txBody>
          <a:bodyPr wrap="square" rtlCol="0" anchor="ctr"/>
          <a:lstStyle/>
          <a:p>
            <a:pPr indent="0" marL="0">
              <a:buNone/>
            </a:pPr>
            <a:r>
              <a:rPr lang="en-US" sz="1800" b="1" dirty="0">
                <a:solidFill>
                  <a:srgbClr val="1A1A1A"/>
                </a:solidFill>
              </a:rPr>
              <a:t>Patients</a:t>
            </a:r>
            <a:endParaRPr lang="en-US" sz="1800" dirty="0"/>
          </a:p>
        </p:txBody>
      </p:sp>
      <p:graphicFrame>
        <p:nvGraphicFramePr>
          <p:cNvPr id="3" name="Table 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79011935"/>
              </p:ext>
            </p:extLst>
          </p:nvPr>
        </p:nvGraphicFramePr>
        <p:xfrm>
          <a:off x="548640" y="1005840"/>
          <a:ext cx="11091672" cy="914400"/>
        </p:xfrm>
        <a:graphic>
          <a:graphicData uri="http://schemas.openxmlformats.org/drawingml/2006/table">
            <a:tbl>
              <a:tblPr/>
              <a:tblGrid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</a:tblGrid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Patient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Prescriber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Field </a:t>
                      </a:r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Team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Case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Days </a:t>
                      </a:r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Past </a:t>
                      </a:r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Refill </a:t>
                      </a:r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Due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Status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DNF </a:t>
                      </a:r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Outcome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Payer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Pharmacy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Geography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EPI-100018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Randall,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Andrea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joanna.janota@jazzpharma.com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UnitedHealthcare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EPI-10005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BLAIN,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MAKAYLA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joanna.janota@jazzpharma.com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Indiana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EPI-10049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Laux,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Linda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joanna.janota@jazzpharma.com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Denied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EPI-10069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CORTINA,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ROSSMARY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luis.cruz@jazzpharma.com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UnitedHealthcare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Acaria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EPI-100847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Pinkard,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Eileen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julie.leach@jazzpharma.com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OptumRx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EPI-101285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Atilgan,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Deniz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stephanie.harris@jazzpharma.com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EPI-10135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Tchapyjnikov,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Dmitry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eric.winfree@jazzpharma.com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Denied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WellDyneRx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EPI-10140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Rodriguez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Hernandez,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Janice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luis.cruz@jazzpharma.com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Territory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Puerto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Rico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PR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EPI-101661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Thibert,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Ronald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mark.finnegan@jazzpharma.com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BCBS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MASSACHUSETTS-CAREMARK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EPI-10179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Davis,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Ronald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luis.cruz@jazzpharma.com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Blue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Cross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and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Blue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Shield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Association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EPI-102086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Shahani,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Dave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nicholas.firestine@jazzpharma.com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132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MEDCO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HOME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DELIVERY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EPI-10234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Sattar,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Shifteh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tracy.scott@jazzpharma.com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103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Sharp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Healthcare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EPI-102626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Cejas,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Diana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heather.dant@jazzpharma.com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42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NORTH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CAROLINA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MEDICAID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EPI-102724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George,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Gigi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michael.moll@jazzpharma.com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WELLCARE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CNC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MEDICARE-ESI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EPI-102742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Shabana,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Mohamed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nicholas.firestine@jazzpharma.com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-8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EPI-103009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Kim,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Rosa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jerica.eco@jazzpharma.com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-6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EPI-10301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Pan,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Angeline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sara.buerk@jazzpharma.com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Pharmacy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Triage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California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EPI-103186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Thiele,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Elizabeth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mark.finnegan@jazzpharma.com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Need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ARM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Attention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EPI-10322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Walter,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Jessica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sara.buerk@jazzpharma.com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Need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ARM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Attention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California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EPI-10327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Bradley,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Lauren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sara.buerk@jazzpharma.com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-18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Need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ARM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Attention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California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EPI-103371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Haas,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Kevin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shaniya.murphy@jazzpharma.com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EPI-1035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Burcham,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Penny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42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Humana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 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79011935"/>
              </p:ext>
            </p:extLst>
          </p:nvPr>
        </p:nvGraphicFramePr>
        <p:xfrm>
          <a:off x="548640" y="548640"/>
          <a:ext cx="11091672" cy="914400"/>
        </p:xfrm>
        <a:graphic>
          <a:graphicData uri="http://schemas.openxmlformats.org/drawingml/2006/table">
            <a:tbl>
              <a:tblPr/>
              <a:tblGrid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</a:tblGrid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Patient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Prescriber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Field Team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Case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Days Past Refill Due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Status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DNF Outcome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Payer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Pharmacy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Geography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stephanie.harris@jazzpharma.com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EPI-10370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Parker,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Margaret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shaniya.murphy@jazzpharma.com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67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Need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ARM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Attention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Georgia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EPI-103857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Bracey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Asiedu,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Aleksandrya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tracy.scott@jazzpharma.com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47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California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EPI-10395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Velezcamacho,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Hector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chad.dawkins@jazzpharma.com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Denied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Centene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Lumicera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EPI-10419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Lallas,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Matt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luis.cruz@jazzpharma.com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83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EPI-10437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Garcia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Losarcos,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Naiara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luis.cruz@jazzpharma.com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Florida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Acaria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EPI-1046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Jarnagin,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Hugh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heather.dant@jazzpharma.com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-9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Tennessee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EPI-104896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Lee,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Virgina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sara.buerk@jazzpharma.com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Intermountain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EPI-10506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Coorg,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Rohini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stephanie.harris@jazzpharma.com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Texas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EPI-105119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Spiegel,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Rebecca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jerica.eco@jazzpharma.com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42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WELLCARE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CNC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MEDICARE-ESI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EPI-1053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Winesett,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Steven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chad.dawkins@jazzpharma.com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EPI-10540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Clarke,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Dave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nicholas.firestine@jazzpharma.com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Highmark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EPI-10541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Pinzon,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Alberto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luis.cruz@jazzpharma.com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Centene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EPI-1055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Zemina,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Kristen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chad.dawkins@jazzpharma.com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Florida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Acaria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EPI-105556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Millett,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David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tracy.scott@jazzpharma.com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134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OptumRx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EPI-10562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Maclean,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Jennifer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tracy.scott@jazzpharma.com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EPI-105986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Mcnamara,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Nancy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julie.leach@jazzpharma.com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-6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EPI-106169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Sowell,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Michael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joanna.janota@jazzpharma.com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EPI-1064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Zhang,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Guojun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shaniya.murphy@jazzpharma.com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-1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Denied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UNSPECIFIED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HUB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EPI-106472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Kohli,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Dhruv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julie.leach@jazzpharma.com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Need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ARM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Attention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EPI-10678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Mcguire,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Lisa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joanna.janota@jazzpharma.com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53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EPI-107378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Varnet,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Marie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randall.unzicker@jazzpharma.com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40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Colorado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EPI-1074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Anderson,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Willie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heather.dant@jazzpharma.com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Tennessee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EPI-10744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Dai,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Chi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eric.winfree@jazzpharma.com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40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UnitedHealthcare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EPI-10757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Pinzon,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Alberto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luis.cruz@jazzpharma.com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Humana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EPI-10797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Fajardo,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Marytery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Florida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able 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79011935"/>
              </p:ext>
            </p:extLst>
          </p:nvPr>
        </p:nvGraphicFramePr>
        <p:xfrm>
          <a:off x="548640" y="548640"/>
          <a:ext cx="11091672" cy="914400"/>
        </p:xfrm>
        <a:graphic>
          <a:graphicData uri="http://schemas.openxmlformats.org/drawingml/2006/table">
            <a:tbl>
              <a:tblPr/>
              <a:tblGrid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</a:tblGrid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Patient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Prescriber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Field Team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Case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Days Past Refill Due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Status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DNF Outcome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Payer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Pharmacy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Geography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luis.cruz@jazzpharma.com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EPI-10807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Depositario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Cabacar,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Dewi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Frances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michael.moll@jazzpharma.com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40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EPI-10826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Racz,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Suzanne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nicholas.firestine@jazzpharma.com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287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UnitedHealthcare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EPI-108596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Pichon,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Jean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Baptiste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randall.unzicker@jazzpharma.com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EPI-108722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Dean,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Christine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heather.dant@jazzpharma.com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UnitedHealthcare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EPI-10894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Landers,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Jami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nicholas.firestine@jazzpharma.com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Centene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Acaria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EPI-109160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Hamiwka,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Lorie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sara.buerk@jazzpharma.com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EPI-10924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Thompson,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James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stephanie.harris@jazzpharma.com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Need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ARM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Attention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Mississippi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EPI-10955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Powell,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Russell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tracy.scott@jazzpharma.com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290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California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EPI-10961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Eksambe,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Padmavati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eric.winfree@jazzpharma.com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53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Arizona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EPI-11004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Balmakund,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Tonya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stephanie.harris@jazzpharma.com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Missouri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EPI-11025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Depositario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Cabacar,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Dewi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Frances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michael.moll@jazzpharma.com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EPI-11038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Prakash,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Vikram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luis.cruz@jazzpharma.com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73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EPI-11062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Dabir,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Aman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jerica.eco@jazzpharma.com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83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Need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ARM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Attention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Virginia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EPI-11079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Melvin,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Joseph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michael.moll@jazzpharma.com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Pennsylvania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Northeast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EPI-11080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Keene,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Sarah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joanna.janota@jazzpharma.com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Kentucky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EPI-11100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Dahl,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Georg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heather.dant@jazzpharma.com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Elevance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EPI-11144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Zarroli,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Katherine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chad.dawkins@jazzpharma.com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Centene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EPI-1116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Christy,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Alison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sara.buerk@jazzpharma.com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Need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ARM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Attention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UnitedHealthcare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EPI-11230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Jarrar,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Randa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eric.winfree@jazzpharma.com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UnitedHealthcare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EPI-11249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Coryell,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Robert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sara.buerk@jazzpharma.com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Nevada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EPI-11251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Bingham,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Peter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mark.finnegan@jazzpharma.com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45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Vermont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EPI-11291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KORZUN,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JACOB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jerica.eco@jazzpharma.com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EPI-11304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Mitchell,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Wendy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tracy.scott@jazzpharma.com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MEDI-CAL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RX-MAGELLAN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EPI-11317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Pan,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Angeline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sara.buerk@jazzpharma.com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Denied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Blue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Shield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California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EPI-11329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Comi,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Anne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Carefirst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BlueCross 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Table 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79011935"/>
              </p:ext>
            </p:extLst>
          </p:nvPr>
        </p:nvGraphicFramePr>
        <p:xfrm>
          <a:off x="548640" y="548640"/>
          <a:ext cx="11091672" cy="914400"/>
        </p:xfrm>
        <a:graphic>
          <a:graphicData uri="http://schemas.openxmlformats.org/drawingml/2006/table">
            <a:tbl>
              <a:tblPr/>
              <a:tblGrid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</a:tblGrid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Patient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Prescriber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Field Team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Case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Days Past Refill Due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Status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DNF Outcome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Payer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Pharmacy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Geography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michael.moll@jazzpharma.com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BlueShield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EPI-11417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Charria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Ortiz,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Gustavo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nicholas.firestine@jazzpharma.com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Texas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EPI-11436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Mahfooz,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Naeem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julie.leach@jazzpharma.com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Ohio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EPI-11522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Dimario,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Francis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mark.finnegan@jazzpharma.com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Denied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EPI-11540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Keough,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Karen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nicholas.firestine@jazzpharma.com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Service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Corporation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(HCSC)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Acaria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EPI-11576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Rossi,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Gian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chad.dawkins@jazzpharma.com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Florida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Acaria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EPI-11640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Gursky,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Jonathan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jerica.eco@jazzpharma.com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New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York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Amber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Northeast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EPI-11652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Ireland,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Thomas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heather.dant@jazzpharma.com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81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Georgia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EPI-1168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Kaulas,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Himanshu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stephanie.harris@jazzpharma.com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Denied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EPI-1170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Von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Allmen,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Gretchen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stephanie.harris@jazzpharma.com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-10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Texas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Acaria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EPI-11747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Robinson,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Julia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tracy.scott@jazzpharma.com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Blue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Shield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California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EPI-11774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Wolfe,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Stephanie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heather.dant@jazzpharma.com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40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NORTH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CAROLINA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MEDICAID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EPI-11807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Harmon,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Joseph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eric.winfree@jazzpharma.com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OptumRx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EPI-11840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Marti,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Candice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mark.finnegan@jazzpharma.com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-3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OptumRx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EPI-11869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Gianakon,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Julie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randall.unzicker@jazzpharma.com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Department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Veterans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Affairs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Amber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EPI-11962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Lin,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Nan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julie.leach@jazzpharma.com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46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Denied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UnitedHealthcare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EPI-11986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Barron,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Todd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michael.moll@jazzpharma.com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Northeast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EPI-12011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Lyons,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Paul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heather.dant@jazzpharma.com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Elevance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EPI-12017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Gonzalez,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Evelyn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michael.moll@jazzpharma.com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EPI-12026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SANCHEZ,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JASMIN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tracy.scott@jazzpharma.com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California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EPI-120444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Bhalla,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Sonam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shaniya.murphy@jazzpharma.com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Denied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Kaiser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Permanente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EPI-120455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Tarbox,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Peter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nicholas.firestine@jazzpharma.com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EPI-120469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Ryan,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Timothy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heather.dant@jazzpharma.com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Denied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EPI-120509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Galan,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Fernando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chad.dawkins@jazzpharma.com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EPI-120525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Alter,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Aliza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michael.moll@jazzpharma.com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EPI-120540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Mohanty,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Deepankar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able 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79011935"/>
              </p:ext>
            </p:extLst>
          </p:nvPr>
        </p:nvGraphicFramePr>
        <p:xfrm>
          <a:off x="548640" y="548640"/>
          <a:ext cx="11091672" cy="914400"/>
        </p:xfrm>
        <a:graphic>
          <a:graphicData uri="http://schemas.openxmlformats.org/drawingml/2006/table">
            <a:tbl>
              <a:tblPr/>
              <a:tblGrid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</a:tblGrid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Patient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Prescriber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Field Team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Case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Days Past Refill Due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Status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DNF Outcome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Payer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Pharmacy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Geography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stephanie.harris@jazzpharma.com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EPI-120569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Lajoie,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Josiane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jerica.eco@jazzpharma.com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EPI-120603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Indulkar,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Shalaka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heather.dant@jazzpharma.com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North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Carolina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EPI-120671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Worden,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Lila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mark.finnegan@jazzpharma.com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EPI-120698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Hake,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Austin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stephanie.harris@jazzpharma.com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WELLCARE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CNC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MEDICARE-ESI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EPI-120738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Sabau,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Dragos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joanna.janota@jazzpharma.com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EPI-120782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Kim,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Joshua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sara.buerk@jazzpharma.com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Denied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CareOregon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EPI-120943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Vidic,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Thomas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joanna.janota@jazzpharma.com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42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Humana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EPI-121053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Gill,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Sonia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heather.dant@jazzpharma.com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45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UNSPECIFIED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HUB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EPI-12114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Economou,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Vasiliki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sara.buerk@jazzpharma.com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48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EPI-121183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Asjad,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Subhana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julie.leach@jazzpharma.com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52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EPI-121837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Lynam,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Laura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sara.buerk@jazzpharma.com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-10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Washington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EPI-12186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Rossi,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Gian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chad.dawkins@jazzpharma.com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Denied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Centene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Acaria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EPI-121874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Kaye,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Lesley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randall.unzicker@jazzpharma.com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UnitedHealthcare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EPI-122102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Patel,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Shital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heather.dant@jazzpharma.com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EPI-122117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Vazquez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Figueroa,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Lionel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randall.unzicker@jazzpharma.com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EPI-122153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ERICKSON,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JENNA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luis.cruz@jazzpharma.com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Navitus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Solutions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Lumicera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EPI-12219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Ciliberto,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Michael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randall.unzicker@jazzpharma.com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EPI-122210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Ghacibeh,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Georges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michael.moll@jazzpharma.com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52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OptumRx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EPI-122213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Wall,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Florence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nicholas.firestine@jazzpharma.com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64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EPI-122227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KHAMBADKONE,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SEVA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sara.buerk@jazzpharma.com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Centene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Acaria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EPI-122376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Tuttrup,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Gabriela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stephanie.harris@jazzpharma.com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EPI-122405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Toler,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Jeremy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stephanie.harris@jazzpharma.com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Service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Corporation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(HCSC)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EPI-122461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Mathisen,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Jan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shaniya.murphy@jazzpharma.com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42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Independence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Blue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Cross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EPI-122480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Foreman,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Adam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stephanie.harris@jazzpharma.com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Humana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EPI-122494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Chari,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Geetha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New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York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able 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79011935"/>
              </p:ext>
            </p:extLst>
          </p:nvPr>
        </p:nvGraphicFramePr>
        <p:xfrm>
          <a:off x="548640" y="548640"/>
          <a:ext cx="11091672" cy="914400"/>
        </p:xfrm>
        <a:graphic>
          <a:graphicData uri="http://schemas.openxmlformats.org/drawingml/2006/table">
            <a:tbl>
              <a:tblPr/>
              <a:tblGrid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</a:tblGrid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Patient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Prescriber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Field Team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Case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Days Past Refill Due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Status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DNF Outcome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Payer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Pharmacy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Geography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jerica.eco@jazzpharma.com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EPI-122511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Villalobosnieto,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Rafael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nicholas.firestine@jazzpharma.com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60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Need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ARM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Attention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Texas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EPI-122545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Petty,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Connor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stephanie.harris@jazzpharma.com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EPI-12258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Rios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Motta,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Miriam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luis.cruz@jazzpharma.com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Triple-S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PR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EPI-122748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Kirsch,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Marshall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stephanie.harris@jazzpharma.com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MEDCO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HOME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DELIVERY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EPI-122752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Ghosh,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Suman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chad.dawkins@jazzpharma.com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-7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New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York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Northeast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EPI-122782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Monahan,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Sally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nicholas.firestine@jazzpharma.com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EPI-122793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Bennett,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Harvey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michael.moll@jazzpharma.com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EPI-122798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Goyanes,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Juan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heather.dant@jazzpharma.com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EPI-12298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Gupta,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Siddharth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michael.moll@jazzpharma.com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Maryland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EPI-123079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Carson,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Robert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shaniya.murphy@jazzpharma.com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EPI-123092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Zhang,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Guojun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shaniya.murphy@jazzpharma.com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-2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Georgia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EPI-123094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Taub,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Katherine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michael.moll@jazzpharma.com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61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Capital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Blue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Cross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EPI-123095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Nememercante,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Silvia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julie.leach@jazzpharma.com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EPI-123098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Lockrow,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Jason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sara.buerk@jazzpharma.com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EPI-123214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Takacs,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Danielle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stephanie.harris@jazzpharma.com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-6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EPI-123227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Black,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Moira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shaniya.murphy@jazzpharma.com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Georgia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EPI-123377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Serena,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Jacqueline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tracy.scott@jazzpharma.com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EPI-12345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Escalante,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Sheri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luis.cruz@jazzpharma.com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UnitedHealthcare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EPI-123466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Kosentka,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Anna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heather.dant@jazzpharma.com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Tennessee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EPI-123484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Kossoff,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Eric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michael.moll@jazzpharma.com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EPI-123589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Shvarts,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Vladimir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eric.winfree@jazzpharma.com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73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EPI-123593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Vu,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Thuyanh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heather.dant@jazzpharma.com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EPI-123641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Raghavan,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Meghana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sara.buerk@jazzpharma.com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EPI-123650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Zawar,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Ifrah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heather.dant@jazzpharma.com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82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Elevance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EPI-123703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Jacobson,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Ronald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42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Denied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Northeast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" name="Table 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79011935"/>
              </p:ext>
            </p:extLst>
          </p:nvPr>
        </p:nvGraphicFramePr>
        <p:xfrm>
          <a:off x="548640" y="548640"/>
          <a:ext cx="11091672" cy="914400"/>
        </p:xfrm>
        <a:graphic>
          <a:graphicData uri="http://schemas.openxmlformats.org/drawingml/2006/table">
            <a:tbl>
              <a:tblPr/>
              <a:tblGrid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</a:tblGrid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Patient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Prescriber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Field Team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Case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Days Past Refill Due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Status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DNF Outcome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Payer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Pharmacy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Geography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jerica.eco@jazzpharma.com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EPI-123731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Schultz,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Tara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julie.leach@jazzpharma.com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MICHIGAN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MEDICAID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EPI-123733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Bolton,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Jeffrey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mark.finnegan@jazzpharma.com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EPI-12393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Siegler,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David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stephanie.harris@jazzpharma.com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Oklahoma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EPI-123995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Dimario,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Francis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mark.finnegan@jazzpharma.com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42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Cigna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EPI-124073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Yoon,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Susanne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sara.buerk@jazzpharma.com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EPI-12438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Tothrussell,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Paula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joanna.janota@jazzpharma.com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65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Centene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EPI-12502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Kamoroff,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Samuel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chad.dawkins@jazzpharma.com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EPI-125201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Escalante,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Sheri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luis.cruz@jazzpharma.com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Florida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Acaria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EPI-12558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Rodziyevska,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Olga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stephanie.harris@jazzpharma.com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Need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ARM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Attention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Blue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Cross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and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Blue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Shield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Association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EPI-12570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Royo,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Jennifer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nicholas.firestine@jazzpharma.com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55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EPI-12601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TSHIMBOMBU,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TSHIBAMBE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eric.winfree@jazzpharma.com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UnitedHealthcare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EPI-12642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Dai,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Chi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eric.winfree@jazzpharma.com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-10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UnitedHealthcare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EPI-12652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Fenton,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Glen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stephanie.harris@jazzpharma.com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UnitedHealthcare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EPI-12666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Holt,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Philip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shaniya.murphy@jazzpharma.com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132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Georgia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EPI-12692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Rosengard,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Jillian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jerica.eco@jazzpharma.com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157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New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York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Northeast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EPI-12849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Pina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Garza,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Jesus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Eric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shaniya.murphy@jazzpharma.com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UnitedHealthcare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EPI-12854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Nelch,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Heather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tracy.scott@jazzpharma.com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-15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California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Amber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EPI-12856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Camara,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Amadou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heather.dant@jazzpharma.com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UnitedHealthcare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EPI-12881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Foster,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Emily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chad.dawkins@jazzpharma.com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Carolina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EPI-12896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Torabi,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Amir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nicholas.firestine@jazzpharma.com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UnitedHealthcare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EPI-12936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Schmidt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Velazquez,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Ramon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luis.cruz@jazzpharma.com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Territory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Puerto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Rico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PR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EPI-12958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Ess,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Kevin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randall.unzicker@jazzpharma.com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49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Colorado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EPI-13058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Pestana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Knight,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Elia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julie.leach@jazzpharma.com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Ohio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EPI-130592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Edgar,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Terence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joanna.janota@jazzpharma.com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Michigan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EPI-131226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Wechsler,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Robert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WellDyneRx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9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0" name="Table 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79011935"/>
              </p:ext>
            </p:extLst>
          </p:nvPr>
        </p:nvGraphicFramePr>
        <p:xfrm>
          <a:off x="548640" y="548640"/>
          <a:ext cx="11091672" cy="914400"/>
        </p:xfrm>
        <a:graphic>
          <a:graphicData uri="http://schemas.openxmlformats.org/drawingml/2006/table">
            <a:tbl>
              <a:tblPr/>
              <a:tblGrid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</a:tblGrid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Patient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Prescriber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Field Team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Case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Days Past Refill Due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Status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DNF Outcome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Payer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Pharmacy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Geography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eric.winfree@jazzpharma.com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EPI-13131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Gedela,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Satyanarayana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luis.cruz@jazzpharma.com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Florida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Acaria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EPI-13182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Parikh,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Neel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chad.dawkins@jazzpharma.com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Florida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Acaria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EPI-132030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Brown,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Laura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chad.dawkins@jazzpharma.com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Denied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Florida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Blue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EPI-132087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Omeara,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Allison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tracy.scott@jazzpharma.com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Denied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Service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Corporation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(HCSC)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EPI-13210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Soloveychik,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Dina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joanna.janota@jazzpharma.com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Discontinued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Illinois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EPI-132725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Lekoubou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Looti,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Alain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Zingraff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michael.moll@jazzpharma.com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40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Need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ARM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Attention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Pennsylvania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Northeast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EPI-13305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Ireland,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Thomas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heather.dant@jazzpharma.com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EPI-13330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Ireland,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Thomas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heather.dant@jazzpharma.com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UNSPECIFIED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HUB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EPI-133360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Lallas,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Matt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luis.cruz@jazzpharma.com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Oscar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EPI-13449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Hinojosa,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Monica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stephanie.harris@jazzpharma.com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70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EPI-1354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Hernandez,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Angel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chad.dawkins@jazzpharma.com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Florida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Acaria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EPI-13574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Weinstock,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Arie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jerica.eco@jazzpharma.com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New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York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Northeast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EPI-136023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Marsh,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Eric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michael.moll@jazzpharma.com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45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EPI-13604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Keough,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Karen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nicholas.firestine@jazzpharma.com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-9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Denied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Texas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Acaria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EPI-13618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Numis,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Adam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sara.buerk@jazzpharma.com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Navitus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Solutions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Lumicera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EPI-13623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Yadov,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Irina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michael.moll@jazzpharma.com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Blue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Cross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Blue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Shield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Arizona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Northeast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EPI-13648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Ritter,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David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julie.leach@jazzpharma.com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OptumRx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EPI-136675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Fajardo,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Marytery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luis.cruz@jazzpharma.com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Florida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Acaria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EPI-13731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Ero,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Ameze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stephanie.harris@jazzpharma.com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70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Mississippi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EPI-13744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Wilfong,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Angus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eric.winfree@jazzpharma.com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EPI-13774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Patterson,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Amy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shaniya.murphy@jazzpharma.com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UnitedHealthcare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EPI-13833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Lerman,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Andrew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luis.cruz@jazzpharma.com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UNSPECIFIED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HUB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EPI-13842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Bolo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Diaz,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Mireya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luis.cruz@jazzpharma.com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Territory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Puerto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Rico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PR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EPI-13928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Blake,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Robert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joanna.janota@jazzpharma.com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Denied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Highmark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EPI-1399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French,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Sophia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Discontinued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Denied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UnitedHealthcare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10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1" name="Table 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79011935"/>
              </p:ext>
            </p:extLst>
          </p:nvPr>
        </p:nvGraphicFramePr>
        <p:xfrm>
          <a:off x="548640" y="548640"/>
          <a:ext cx="11091672" cy="914400"/>
        </p:xfrm>
        <a:graphic>
          <a:graphicData uri="http://schemas.openxmlformats.org/drawingml/2006/table">
            <a:tbl>
              <a:tblPr/>
              <a:tblGrid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</a:tblGrid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Patient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Prescriber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Field Team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Case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Days Past Refill Due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Status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DNF Outcome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Payer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Pharmacy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Geography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chad.dawkins@jazzpharma.com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EPI-14012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Cantero,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Julio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chad.dawkins@jazzpharma.com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UnitedHealthcare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EPI-14089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Ribot,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Ramses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luis.cruz@jazzpharma.com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40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(Aetna)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HUB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EPI-14250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Doonan,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Nicole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randall.unzicker@jazzpharma.com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Blue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Cross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Blue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Shield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Minnesota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EPI-142633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Lee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Messer,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Christopher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sara.buerk@jazzpharma.com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California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EPI-14376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Quinn,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Lisa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jerica.eco@jazzpharma.com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EPI-14413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Baki,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Nour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julie.leach@jazzpharma.com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PBM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HUB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EPI-144432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Ting,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Tricia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michael.moll@jazzpharma.com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49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Maryland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EPI-144448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Harris,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David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eric.winfree@jazzpharma.com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UnitedHealthcare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EPI-14450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Goretzke,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Sean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stephanie.harris@jazzpharma.com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Missouri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Amber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EPI-14452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Robertson,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David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joanna.janota@jazzpharma.com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Kentucky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Amber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EPI-14510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Bhattarai,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Paras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nicholas.firestine@jazzpharma.com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Texas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EPI-14526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Malik,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Saleem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nicholas.firestine@jazzpharma.com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UnitedHealthcare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EPI-14545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Weisenberg,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Judith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stephanie.harris@jazzpharma.com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89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Missouri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EPI-14563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Morgan,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Lola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nicholas.firestine@jazzpharma.com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Texas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EPI-14628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Madhavan,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Deepak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randall.unzicker@jazzpharma.com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SAV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RX-NDC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EPI-14633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Margiotta,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Megan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michael.moll@jazzpharma.com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Denied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Northeast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EPI-14659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Nasser,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Mohamed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luis.cruz@jazzpharma.com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Centene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EPI-14753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Mysore,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Channaiah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heather.dant@jazzpharma.com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41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Humana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EPI-14902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Rinne,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Stephanie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eric.winfree@jazzpharma.com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Denied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RxBenefits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EPI-14913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Nazir,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Khurram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chad.dawkins@jazzpharma.com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UNSPECIFIED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HUB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EPI-14952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Wallace,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Shana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heather.dant@jazzpharma.com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268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Prime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Therapeutics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EPI-15015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Vernier,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Eric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chad.dawkins@jazzpharma.com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Florida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EPI-15127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Mckenzie,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Bryan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tracy.scott@jazzpharma.com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Navitus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Solutions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Lumicera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EPI-15148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Rodriguez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Hernandez,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Janice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luis.cruz@jazzpharma.com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Territory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Puerto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Rico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PR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EPI-1515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Haws,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Michael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Molina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Healthcare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1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2" name="Table 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79011935"/>
              </p:ext>
            </p:extLst>
          </p:nvPr>
        </p:nvGraphicFramePr>
        <p:xfrm>
          <a:off x="548640" y="548640"/>
          <a:ext cx="11091672" cy="914400"/>
        </p:xfrm>
        <a:graphic>
          <a:graphicData uri="http://schemas.openxmlformats.org/drawingml/2006/table">
            <a:tbl>
              <a:tblPr/>
              <a:tblGrid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</a:tblGrid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Patient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Prescriber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Field Team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Case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Days Past Refill Due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Status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DNF Outcome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Payer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Pharmacy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Geography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eric.winfree@jazzpharma.com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EPI-15221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Schreiber,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John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michael.moll@jazzpharma.com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EPI-1525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Hussain,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Ammar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luis.cruz@jazzpharma.com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-9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Florida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Acaria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EPI-1526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Chung,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eric.winfree@jazzpharma.com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Southwest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Catholic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Network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EPI-153083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SANCHEZ,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JASMIN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tracy.scott@jazzpharma.com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154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EPI-153273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Agarwal,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Rajkumar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julie.leach@jazzpharma.com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UNSPECIFIED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HUB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EPI-153365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Taub,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Katherine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michael.moll@jazzpharma.com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UnitedHealthcare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Northeast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EPI-153612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Ess,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Kevin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randall.unzicker@jazzpharma.com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EPI-153684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Odea,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Pamela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joanna.janota@jazzpharma.com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Indiana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EPI-15370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Greiner,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Hansel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julie.leach@jazzpharma.com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Denied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EPI-153716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Valenti,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Erik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eric.winfree@jazzpharma.com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Blue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Cross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and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Blue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Shield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Association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EPI-154193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Jain,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Badal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michael.moll@jazzpharma.com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Need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ARM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Attention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Delaware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EPI-15444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BERK,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THOMAS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jerica.eco@jazzpharma.com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46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Pennsylvania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Northeast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EPI-15453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Rodriguez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Hernandez,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Janice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luis.cruz@jazzpharma.com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Territory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Puerto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Rico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PR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EPI-154687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Wong,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Stephen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michael.moll@jazzpharma.com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Centene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Northeast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EPI-15471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Lopezalberola,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Roberto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luis.cruz@jazzpharma.com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Need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ARM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Attention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Florida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EPI-15474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Sapkota,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Bishnu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nicholas.firestine@jazzpharma.com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EPI-155217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Wang,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Norman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eric.winfree@jazzpharma.com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UnitedHealthcare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EPI-155280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Mudigoudar,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Basanagoud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shaniya.murphy@jazzpharma.com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Mississippi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EPI-155378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SCOTTBERG,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MARGARET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joanna.janota@jazzpharma.com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Centene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EPI-155379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Meddles,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Katharine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randall.unzicker@jazzpharma.com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-25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Need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ARM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Attention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Colorado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EPI-155419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Cobb,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Sarah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stephanie.harris@jazzpharma.com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Denied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UNSPECIFIED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HUB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EPI-155555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Yadov,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Irina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michael.moll@jazzpharma.com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Horizon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Blue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Cross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Blue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Shield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New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Jersey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Northeast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EPI-155607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Appu,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Merveen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sara.buerk@jazzpharma.com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57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California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EPI-155772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Mckenzie,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Bryan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tracy.scott@jazzpharma.com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47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Department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Defense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1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3" name="Table 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79011935"/>
              </p:ext>
            </p:extLst>
          </p:nvPr>
        </p:nvGraphicFramePr>
        <p:xfrm>
          <a:off x="548640" y="548640"/>
          <a:ext cx="11091672" cy="914400"/>
        </p:xfrm>
        <a:graphic>
          <a:graphicData uri="http://schemas.openxmlformats.org/drawingml/2006/table">
            <a:tbl>
              <a:tblPr/>
              <a:tblGrid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</a:tblGrid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Patient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Prescriber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Field Team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Case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Days Past Refill Due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Status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DNF Outcome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Payer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Pharmacy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Geography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EPI-15607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Lin,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Jenny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shaniya.murphy@jazzpharma.com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Georgia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EPI-15675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BORG,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SYDNEY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chad.dawkins@jazzpharma.com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EPI-15700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Snelson,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Rose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Elyse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shaniya.murphy@jazzpharma.com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EPI-157757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Mcfadden,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Kathryn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chad.dawkins@jazzpharma.com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53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Denied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Florida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Acaria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EPI-157822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Munoz,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Monica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luis.cruz@jazzpharma.com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Florida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Acaria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EPI-157853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Vernier,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Eric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chad.dawkins@jazzpharma.com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Florida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Acaria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EPI-157883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Trandafir,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Cristina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stephanie.harris@jazzpharma.com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EPI-157886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Gowda,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Supreeth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julie.leach@jazzpharma.com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EPI-157895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Mcfadden,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Kathryn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chad.dawkins@jazzpharma.com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Florida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Acaria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EPI-157924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Bernardo,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Danilo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sara.buerk@jazzpharma.com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EPI-157945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Winesett,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Steven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chad.dawkins@jazzpharma.com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Florida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EPI-158554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Mathisen,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Jan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shaniya.murphy@jazzpharma.com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Need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ARM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Attention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ALABAMA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MEDICAID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EPI-158559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Usher,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Heather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julie.leach@jazzpharma.com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Denied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EPI-158569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Koshiya,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Hitoshi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heather.dant@jazzpharma.com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EPI-1586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Collins,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James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randall.unzicker@jazzpharma.com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Missouri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EPI-15868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Hammoudi,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Mostafa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tracy.scott@jazzpharma.com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Blue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Shield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California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EPI-159150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Limbo,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Kimberly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shaniya.murphy@jazzpharma.com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Department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Defense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EPI-159194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Ibrahim,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Ahmed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heather.dant@jazzpharma.com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North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Carolina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EPI-159331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Keator,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Cynthia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nicholas.firestine@jazzpharma.com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EPI-159392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Rodriguez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Hernandez,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Janice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luis.cruz@jazzpharma.com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Denied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Territory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Puerto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Rico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PR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EPI-159416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Zawadzki,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Lucyna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julie.leach@jazzpharma.com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Denied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UNSPECIFIED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HUB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EPI-159514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Kahlon,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Simran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eric.winfree@jazzpharma.com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EPI-15969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Sutherland,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Tara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sara.buerk@jazzpharma.com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-3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EPI-15974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Eze,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Chigolum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eric.winfree@jazzpharma.com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Texas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EPI-15988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Korobkin,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Rowena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sara.buerk@jazzpharma.com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California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1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4" name="Table 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79011935"/>
              </p:ext>
            </p:extLst>
          </p:nvPr>
        </p:nvGraphicFramePr>
        <p:xfrm>
          <a:off x="548640" y="548640"/>
          <a:ext cx="11091672" cy="914400"/>
        </p:xfrm>
        <a:graphic>
          <a:graphicData uri="http://schemas.openxmlformats.org/drawingml/2006/table">
            <a:tbl>
              <a:tblPr/>
              <a:tblGrid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</a:tblGrid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Patient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Prescriber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Field Team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Case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Days Past Refill Due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Status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DNF Outcome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Payer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Pharmacy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Geography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EPI-16006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Condie,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John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eric.winfree@jazzpharma.com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REGENCE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BCBS-PRIME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THERAPEUTICS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EPI-160232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Olson,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Jill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randall.unzicker@jazzpharma.com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67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UnitedHealthcare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EPI-160243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Shilts,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Alexa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randall.unzicker@jazzpharma.com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Colorado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EPI-160332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AVNON,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TOVI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sara.buerk@jazzpharma.com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Denied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Washington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EPI-160354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Yerram,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Sushma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eric.winfree@jazzpharma.com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EPI-160366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Lee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Messer,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Christopher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sara.buerk@jazzpharma.com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EPI-160506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Barron,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Todd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michael.moll@jazzpharma.com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Pennsylvania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EPI-160547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ELSAKR,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SARAH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joanna.janota@jazzpharma.com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Pharmacy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Triage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INDIANA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MEDICAID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EPI-160570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Luke,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Rebecca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nicholas.firestine@jazzpharma.com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Elevance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EPI-160594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Thibert,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Ronald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mark.finnegan@jazzpharma.com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Northeast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EPI-160644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Bello,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Mercedes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luis.cruz@jazzpharma.com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Florida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Acaria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EPI-160671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Rezaei,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Babak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nicholas.firestine@jazzpharma.com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Denied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ARGUS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SYSTEMS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EPI-160690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Blake,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Robert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joanna.janota@jazzpharma.com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53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Indiana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EPI-160700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Dew,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Michael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heather.dant@jazzpharma.com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Elevance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HUB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EPI-160802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Reed,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Laurel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julie.leach@jazzpharma.com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Michigan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EPI-160807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Apeatu,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Samuel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jerica.eco@jazzpharma.com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NYS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DEPARTMENT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Northeast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EPI-160843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Singh,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Rani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heather.dant@jazzpharma.com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Denied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North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Carolina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HUB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EPI-160902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Choi,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Hyoung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Won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shaniya.murphy@jazzpharma.com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Denied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CARESOURCE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GEORGIA-EXPRESS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EPI-160920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Sirsi,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Deepa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nicholas.firestine@jazzpharma.com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UnitedHealthcare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EPI-160943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Khalid,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Roha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nicholas.firestine@jazzpharma.com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60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EPI-160964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Yoon,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Susanne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sara.buerk@jazzpharma.com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RxAdvance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EPI-161029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Toupin,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David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julie.leach@jazzpharma.com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EPI-161082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Wiltrout,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Kimberly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mark.finnegan@jazzpharma.com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UnitedHealthcare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Northeast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EPI-161119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Koszer,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Samuel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jerica.eco@jazzpharma.com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164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Centene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Northeast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EPI-161167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Seinfeld,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Syndi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55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Denied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UNSPECIFIED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HUB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1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5" name="Table 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79011935"/>
              </p:ext>
            </p:extLst>
          </p:nvPr>
        </p:nvGraphicFramePr>
        <p:xfrm>
          <a:off x="548640" y="548640"/>
          <a:ext cx="11091672" cy="914400"/>
        </p:xfrm>
        <a:graphic>
          <a:graphicData uri="http://schemas.openxmlformats.org/drawingml/2006/table">
            <a:tbl>
              <a:tblPr/>
              <a:tblGrid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</a:tblGrid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Patient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Prescriber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Field Team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Case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Days Past Refill Due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Status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DNF Outcome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Payer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Pharmacy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Geography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luis.cruz@jazzpharma.com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EPI-16123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Wheless,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James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shaniya.murphy@jazzpharma.com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UNSPECIFIED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HUB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EPI-161233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Bui,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Diep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nicholas.firestine@jazzpharma.com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UNSPECIFIED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HUB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EPI-161256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Taylor,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Sarah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julie.leach@jazzpharma.com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Denied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EPI-161304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Torres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Gomez,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Karylsa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nicholas.firestine@jazzpharma.com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Denied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UNSPECIFIED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HUB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EPI-161339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Mchugh,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Ann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julie.leach@jazzpharma.com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Denied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RxBenefits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Northeast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EPI-161362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Agurs,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Latanya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tracy.scott@jazzpharma.com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EPI-16138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Coorg,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Rohini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stephanie.harris@jazzpharma.com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OptumRx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EPI-161421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Burkhalter,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Stephanie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chad.dawkins@jazzpharma.com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61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Florida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EPI-161422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Gennaro,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Maria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Pilar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luis.cruz@jazzpharma.com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UnitedHealthcare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EPI-161574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Holt,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Philip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shaniya.murphy@jazzpharma.com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47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Georgia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EPI-16164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Alexander,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Edward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tracy.scott@jazzpharma.com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40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Denied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California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EPI-161662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Currier,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Heidi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randall.unzicker@jazzpharma.com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55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Minnesota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HUB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EPI-16179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Escalante,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Sheri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luis.cruz@jazzpharma.com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Florida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EPI-161824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Zawadzki,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Lucyna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julie.leach@jazzpharma.com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EPI-161857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GARCIA,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CAROLINA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randall.unzicker@jazzpharma.com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41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UnitedHealthcare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EPI-161864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Oh,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Andrew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sara.buerk@jazzpharma.com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Denied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UNSPECIFIED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HUB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EPI-161868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Vu,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Thuyanh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heather.dant@jazzpharma.com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Denied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EPI-161920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Hill,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Corey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stephanie.harris@jazzpharma.com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80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Humana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EPI-161955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Mathisen,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Jan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shaniya.murphy@jazzpharma.com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BCBS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ALABAMA-PRIME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THERAPEUTICS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EPI-162058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Kessler,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Sudha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michael.moll@jazzpharma.com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Denied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Northeast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EPI-162064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Thompson,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Serena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randall.unzicker@jazzpharma.com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Denied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EPI-162072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Kadiwala,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Hamid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nicholas.firestine@jazzpharma.com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UnitedHealthcare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EPI-162100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HUERTAS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BAUZA,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DIANA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luis.cruz@jazzpharma.com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Territory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Puerto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Rico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PR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EPI-162162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Mclaren,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John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mark.finnegan@jazzpharma.com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Massachusetts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HUB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Northeast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EPI-162198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Hammond,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Katherine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143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ALABAMA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MEDICAID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1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6" name="Table 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79011935"/>
              </p:ext>
            </p:extLst>
          </p:nvPr>
        </p:nvGraphicFramePr>
        <p:xfrm>
          <a:off x="548640" y="548640"/>
          <a:ext cx="11091672" cy="914400"/>
        </p:xfrm>
        <a:graphic>
          <a:graphicData uri="http://schemas.openxmlformats.org/drawingml/2006/table">
            <a:tbl>
              <a:tblPr/>
              <a:tblGrid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</a:tblGrid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Patient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Prescriber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Field Team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Case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Days Past Refill Due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Status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DNF Outcome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Payer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Pharmacy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Geography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shaniya.murphy@jazzpharma.com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EPI-162226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Wibecan,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Leah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mark.finnegan@jazzpharma.com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Need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ARM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Attention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EPI-162268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Mcinnis,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Megan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heather.dant@jazzpharma.com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Denied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EPI-16232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Resnick,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Trevor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luis.cruz@jazzpharma.com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189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Denied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EPI-16233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Werbaneth,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Katherine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sara.buerk@jazzpharma.com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67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Need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ARM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Attention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Centene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EPI-162335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Gadia,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Carlos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luis.cruz@jazzpharma.com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Denied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EPI-162346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Galan,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Fernando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chad.dawkins@jazzpharma.com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EPI-162402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Houston,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James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shaniya.murphy@jazzpharma.com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UNSPECIFIED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HUB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EPI-162433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Garner,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Jessica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sara.buerk@jazzpharma.com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Need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ARM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Attention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California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EPI-162474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Putta,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Swapna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mark.finnegan@jazzpharma.com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Blue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Cross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and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Blue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Shield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Association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Northeast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EPI-162475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Lee,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Marcus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stephanie.harris@jazzpharma.com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Mississippi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EPI-162593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Khan,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Atiya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joanna.janota@jazzpharma.com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Centene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Acaria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EPI-162598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Vakili,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Roya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mark.finnegan@jazzpharma.com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Northeast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EPI-162666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Andrade,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Edgard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chad.dawkins@jazzpharma.com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OptumRx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EPI-162673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Yoon,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Susanne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sara.buerk@jazzpharma.com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62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Molina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Healthcare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EPI-16282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Long,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Brandi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heather.dant@jazzpharma.com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-10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Elevance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EPI-162820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Randle,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Stephanie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sara.buerk@jazzpharma.com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Denied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ALLCARE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EPI-16289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Moretz,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Katherine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chad.dawkins@jazzpharma.com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EPI-162915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Mcfadden,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Kathryn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chad.dawkins@jazzpharma.com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Florida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Acaria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EPI-16295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Valentine,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Vinod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jerica.eco@jazzpharma.com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Denied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Florida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Acaria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EPI-16306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Nelch,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Heather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tracy.scott@jazzpharma.com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California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EPI-163077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Black,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Moira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shaniya.murphy@jazzpharma.com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Denied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Georgia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EPI-163094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Gallentine,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William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sara.buerk@jazzpharma.com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Intake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Incomplete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California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EPI-163101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Mendes,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Bryan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randall.unzicker@jazzpharma.com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Blue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Cross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Blue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Shield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Minnesota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EPI-163163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Hallinan,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Barbara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julie.leach@jazzpharma.com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UnitedHealthcare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EPI-163215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Whitehall,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Robin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Denied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1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7" name="Table 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79011935"/>
              </p:ext>
            </p:extLst>
          </p:nvPr>
        </p:nvGraphicFramePr>
        <p:xfrm>
          <a:off x="548640" y="548640"/>
          <a:ext cx="11091672" cy="914400"/>
        </p:xfrm>
        <a:graphic>
          <a:graphicData uri="http://schemas.openxmlformats.org/drawingml/2006/table">
            <a:tbl>
              <a:tblPr/>
              <a:tblGrid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</a:tblGrid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Patient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Prescriber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Field Team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Case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Days Past Refill Due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Status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DNF Outcome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Payer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Pharmacy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Geography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nicholas.firestine@jazzpharma.com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EPI-163219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Mishal,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Natanya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luis.cruz@jazzpharma.com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-29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UNSPECIFIED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HUB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EPI-16326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Serrano,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Aracelis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luis.cruz@jazzpharma.com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Territory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Puerto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Rico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PR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EPI-16330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Harnenz,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Zoe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eric.winfree@jazzpharma.com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EPI-163388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Woodliff,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Brianna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nicholas.firestine@jazzpharma.com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Texas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Acaria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EPI-16349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Mcfadden,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Kathryn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chad.dawkins@jazzpharma.com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Florida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Acaria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EPI-163610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Kuo,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Jonathan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tracy.scott@jazzpharma.com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Discontinued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EPI-163864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Sandoval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Karamian,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Amanda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eric.winfree@jazzpharma.com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Blue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Cross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Blue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Shield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Wyoming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EPI-164053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Hainlen,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Meagan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nicholas.firestine@jazzpharma.com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Service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Corporation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(HCSC)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HUB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EPI-164082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Jamal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Omidi,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Shirin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stephanie.harris@jazzpharma.com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EPI-164123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Verma,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Amit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stephanie.harris@jazzpharma.com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Need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ARM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Attention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EPI-16413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Shvarts,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Vladimir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eric.winfree@jazzpharma.com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UnitedHealthcare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EPI-164213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Morris,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George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joanna.janota@jazzpharma.com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Wisconsin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EPI-164225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Twanow,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Jaime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Dawn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julie.leach@jazzpharma.com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UnitedHealthcare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EPI-164272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Boutilier,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Susan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heather.dant@jazzpharma.com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40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UnitedHealthcare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EPI-164275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Jernigan,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Edward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mark.finnegan@jazzpharma.com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41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EPI-164276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Asaikar,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Shailesh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sara.buerk@jazzpharma.com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California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EPI-164376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Whitehead,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Terry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chad.dawkins@jazzpharma.com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Denied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EPI-164378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Brahin,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Eric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nicholas.firestine@jazzpharma.com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Centene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EPI-164396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Bonnet,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Wilmot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nicholas.firestine@jazzpharma.com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152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Texas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EPI-164423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Rodziyevska,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Olga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stephanie.harris@jazzpharma.com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EPI-164765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Livingston,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Timothy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shaniya.murphy@jazzpharma.com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EPI-164916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Ostrander,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Betsy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eric.winfree@jazzpharma.com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137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UNSPECIFIED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HUB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EPI-1650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Rodriguez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Hernandez,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Janice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luis.cruz@jazzpharma.com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PharmPix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PR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EPI-165038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Hyslop,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Ann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sara.buerk@jazzpharma.com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UnitedHealthcare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EPI-16507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Lulla,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Dinesh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53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Denied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California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1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8" name="Table 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79011935"/>
              </p:ext>
            </p:extLst>
          </p:nvPr>
        </p:nvGraphicFramePr>
        <p:xfrm>
          <a:off x="548640" y="548640"/>
          <a:ext cx="11091672" cy="914400"/>
        </p:xfrm>
        <a:graphic>
          <a:graphicData uri="http://schemas.openxmlformats.org/drawingml/2006/table">
            <a:tbl>
              <a:tblPr/>
              <a:tblGrid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</a:tblGrid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Patient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Prescriber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Field Team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Case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Days Past Refill Due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Status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DNF Outcome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Payer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Pharmacy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Geography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sara.buerk@jazzpharma.com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EPI-165141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Randle,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Stephanie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sara.buerk@jazzpharma.com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UPMC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Lumicera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EPI-165243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Grady,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Grace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joanna.janota@jazzpharma.com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Service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Corporation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(HCSC)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EPI-16536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Vavra,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Michael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randall.unzicker@jazzpharma.com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Denied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BlueCross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BlueShield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Carolina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Amber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EPI-165682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Mack,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Meghan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jerica.eco@jazzpharma.com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UNSPECIFIED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HUB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Northeast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EPI-165729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Gupte,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Gargi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stephanie.harris@jazzpharma.com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-7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Texas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EPI-16575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Zafar,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Muhammad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heather.dant@jazzpharma.com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LucyRx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EPI-165875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Asaikar,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Shailesh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sara.buerk@jazzpharma.com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California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EPI-165883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Lin,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Jenny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shaniya.murphy@jazzpharma.com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Georgia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EPI-165907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Coorg,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Rohini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stephanie.harris@jazzpharma.com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Texas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EPI-165915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Giang,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John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Hai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Dang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stephanie.harris@jazzpharma.com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Denied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All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Other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Medicaid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EPI-165958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Gustkey,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Daniel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nicholas.firestine@jazzpharma.com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80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OptumRx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Acaria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EPI-165985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Chrusciel,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Deepti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stephanie.harris@jazzpharma.com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Humana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EPI-166000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Mcfadden,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Kathryn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chad.dawkins@jazzpharma.com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-9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Florida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Acaria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EPI-166026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Beatty,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Christopher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julie.leach@jazzpharma.com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-7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UnitedHealthcare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EPI-166033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Nagle,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Keith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mark.finnegan@jazzpharma.com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Denied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EPI-166051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Dao,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Jasmin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tracy.scott@jazzpharma.com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California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EPI-16607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Palladino,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Christine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jerica.eco@jazzpharma.com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UnitedHealthcare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Northeast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EPI-166114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Calvo,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Lisa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heather.dant@jazzpharma.com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48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Denied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Florida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Acaria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EPI-166120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Bhalla,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Sonam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shaniya.murphy@jazzpharma.com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Denied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Georgia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EPI-166153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Yoon,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Susanne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sara.buerk@jazzpharma.com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EPI-166179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Steed,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Nicholas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julie.leach@jazzpharma.com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Blue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Cross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Blue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Shield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Michigan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EPI-166222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Hayesrosen,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Caroline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michael.moll@jazzpharma.com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126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Horizon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Blue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Cross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Blue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Shield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New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Jersey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Northeast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EPI-166254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Zhang,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Guojun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shaniya.murphy@jazzpharma.com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Denied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Navitus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Solutions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Lumicera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EPI-16628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Feoli,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Enrique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michael.moll@jazzpharma.com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Northeast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1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9" name="Table 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79011935"/>
              </p:ext>
            </p:extLst>
          </p:nvPr>
        </p:nvGraphicFramePr>
        <p:xfrm>
          <a:off x="548640" y="548640"/>
          <a:ext cx="11091672" cy="914400"/>
        </p:xfrm>
        <a:graphic>
          <a:graphicData uri="http://schemas.openxmlformats.org/drawingml/2006/table">
            <a:tbl>
              <a:tblPr/>
              <a:tblGrid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</a:tblGrid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Patient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Prescriber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Field Team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Case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Days Past Refill Due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Status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DNF Outcome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Payer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Pharmacy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Geography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EPI-166314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Kalayjian,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Laura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tracy.scott@jazzpharma.com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Intake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Incomplete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California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EPI-166317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Marshall,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Cathleen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sara.buerk@jazzpharma.com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UNSPECIFIED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HUB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EPI-166328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Copeland,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Dane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tracy.scott@jazzpharma.com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EPI-166378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Hainlen,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Meagan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nicholas.firestine@jazzpharma.com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Need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ARM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Attention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EPI-166404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Valenti,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Erik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eric.winfree@jazzpharma.com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Intake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Incomplete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EPI-166437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Kim,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Hyunmi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sara.buerk@jazzpharma.com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Capital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Rx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EPI-166478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Pascual,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Franchette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sara.buerk@jazzpharma.com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Washington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EPI-166503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Garner,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Jessica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sara.buerk@jazzpharma.com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California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EPI-166546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Rivera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Cruz,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Angelica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chad.dawkins@jazzpharma.com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74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Blue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Cross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and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Blue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Shield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Association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EPI-166570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North,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Gabriela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Cancelled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Indiana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EPI-166588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Dai,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Chi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eric.winfree@jazzpharma.com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Denied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Southwest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Catholic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Network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EPI-166629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Passaro,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Erasmo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chad.dawkins@jazzpharma.com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Florida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Acaria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EPI-16671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Liberatore,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Angela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sara.buerk@jazzpharma.com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Uniform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Medical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Plan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Lumicera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EPI-166753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Hainlen,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Meagan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nicholas.firestine@jazzpharma.com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Denied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All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Other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Medicaid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EPI-166809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Zuccarelli,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Britton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randall.unzicker@jazzpharma.com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Denied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RxSense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EPI-166821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Vasconcellos,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Elza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luis.cruz@jazzpharma.com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Florida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EPI-166963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Houck,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Kimberly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stephanie.harris@jazzpharma.com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Denied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UNSPECIFIED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HUB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EPI-166995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Ihnen,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Sarah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julie.leach@jazzpharma.com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EPI-16706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Williams,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Brittany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shaniya.murphy@jazzpharma.com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CARESOURCE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PASSE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ARKANSAS-ESI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EPI-167066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Thiele,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Elizabeth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mark.finnegan@jazzpharma.com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EPI-167095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Zawadzki,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Lucyna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julie.leach@jazzpharma.com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EPI-167117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Dhingra,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Neelu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luis.cruz@jazzpharma.com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Florida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EPI-167138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Fishman,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Olga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jerica.eco@jazzpharma.com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Need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ARM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Attention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EPI-167156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Rodriguez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Hernandez,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Janice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luis.cruz@jazzpharma.com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Territory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Puerto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Rico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PR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EPI-167183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Jung,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Brian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tracy.scott@jazzpharma.com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-26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Need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ARM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Attention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California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19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0" name="Table 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79011935"/>
              </p:ext>
            </p:extLst>
          </p:nvPr>
        </p:nvGraphicFramePr>
        <p:xfrm>
          <a:off x="548640" y="548640"/>
          <a:ext cx="11091672" cy="914400"/>
        </p:xfrm>
        <a:graphic>
          <a:graphicData uri="http://schemas.openxmlformats.org/drawingml/2006/table">
            <a:tbl>
              <a:tblPr/>
              <a:tblGrid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</a:tblGrid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Patient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Prescriber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Field Team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Case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Days Past Refill Due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Status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DNF Outcome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Payer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Pharmacy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Geography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EPI-167211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Cease,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Andrew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stephanie.harris@jazzpharma.com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EPI-167284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Burkhalter,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Stephanie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chad.dawkins@jazzpharma.com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Denied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UNSPECIFIED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HUB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EPI-167301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Tennant,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Amy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joanna.janota@jazzpharma.com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Illinois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EPI-167313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Eksambe,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Padmavati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eric.winfree@jazzpharma.com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UnitedHealthcare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EPI-167463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Royter,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Vladimir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sara.buerk@jazzpharma.com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Need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ARM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Attention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California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EPI-167529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Gholipour,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Taha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tracy.scott@jazzpharma.com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46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Denied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California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EPI-167622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Wibecan,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Leah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mark.finnegan@jazzpharma.com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Denied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Elevance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Northeast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EPI-167675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Strelzik,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Jeffrey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michael.moll@jazzpharma.com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Carefirst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BlueCross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BlueShield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EPI-167703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Riggins,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Robin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stephanie.harris@jazzpharma.com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UnitedHealthcare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EPI-167715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Johnson,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Devin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heather.dant@jazzpharma.com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Elevance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EPI-167736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Akbari,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Heba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joanna.janota@jazzpharma.com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EPI-167747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Mckenzie,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Bryan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tracy.scott@jazzpharma.com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Need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ARM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Attention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California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EPI-167750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Willis,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Virginia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stephanie.harris@jazzpharma.com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EPI-167777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Watkins,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Michael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stephanie.harris@jazzpharma.com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Denied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EPI-167779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Garcia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Losarcos,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Naiara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luis.cruz@jazzpharma.com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Florida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EPI-167782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RAY,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JASMIN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tracy.scott@jazzpharma.com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Capital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Rx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EPI-167862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Dekker,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sara.buerk@jazzpharma.com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Intake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Incomplete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Service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Corporation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(HCSC)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EPI-167923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Jiang,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Huiyuan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tracy.scott@jazzpharma.com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Discontinued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California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EPI-167970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Harsanyijilling,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Krisztina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chad.dawkins@jazzpharma.com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Carolina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EPI-168012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Rodriguez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Hernandez,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Janice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luis.cruz@jazzpharma.com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Territory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Puerto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Rico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PR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EPI-16804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Weinstock,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Arie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jerica.eco@jazzpharma.com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42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New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York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Northeast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EPI-16806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Beck,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Robert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randall.unzicker@jazzpharma.com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Kansas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EPI-168188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Khwaja,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Shamsuddin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nicholas.firestine@jazzpharma.com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Texas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EPI-168189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Thibert,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Ronald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mark.finnegan@jazzpharma.com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Northeast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EPI-168198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Castellanos,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Peter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eric.winfree@jazzpharma.com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Idaho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20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1" name="Table 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79011935"/>
              </p:ext>
            </p:extLst>
          </p:nvPr>
        </p:nvGraphicFramePr>
        <p:xfrm>
          <a:off x="548640" y="548640"/>
          <a:ext cx="11091672" cy="914400"/>
        </p:xfrm>
        <a:graphic>
          <a:graphicData uri="http://schemas.openxmlformats.org/drawingml/2006/table">
            <a:tbl>
              <a:tblPr/>
              <a:tblGrid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</a:tblGrid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Patient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Prescriber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Field Team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Case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Days Past Refill Due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Status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DNF Outcome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Payer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Pharmacy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Geography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EPI-168201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Tilton,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Nicole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sara.buerk@jazzpharma.com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Elevance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EPI-168227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Albuja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Ponce,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Ana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mark.finnegan@jazzpharma.com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Denied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Northeast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EPI-168246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Ortiz,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Melanie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luis.cruz@jazzpharma.com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-7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Florida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Acaria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EPI-16826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Jung,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Brian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tracy.scott@jazzpharma.com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-12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Denied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Service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Corporation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(HCSC)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EPI-168264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Rivera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Cruz,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Angelica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chad.dawkins@jazzpharma.com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Florida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EPI-168266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Kuwabara,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Norimitsu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julie.leach@jazzpharma.com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Need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ARM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Attention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Michigan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EPI-168344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Garcia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Pierce,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Joanna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joanna.janota@jazzpharma.com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Illinois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EPI-168392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Gavvala,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Jay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stephanie.harris@jazzpharma.com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43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Community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Choice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EPI-168397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ALTARAZI,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KHOLOUD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stephanie.harris@jazzpharma.com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Denied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Mississippi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EPI-1684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Callerame,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Kevin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stephanie.harris@jazzpharma.com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Liviniti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EPI-168404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Thio,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Kwee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stephanie.harris@jazzpharma.com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Denied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EPI-168437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Suter,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Bernhard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stephanie.harris@jazzpharma.com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EPI-168497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ELSAKR,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SARAH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joanna.janota@jazzpharma.com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Ohio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EPI-168501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Allen,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Samantha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sara.buerk@jazzpharma.com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California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EPI-16852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Schach,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Jennifer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heather.dant@jazzpharma.com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Elevance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EPI-168604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Bebin,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Elizabeth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shaniya.murphy@jazzpharma.com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EPI-168681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Fakhoury,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Toufic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julie.leach@jazzpharma.com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Kentucky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EPI-168719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Jayakody,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Himali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chad.dawkins@jazzpharma.com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Navitus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Solutions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Lumicera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EPI-16874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Crudele,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Angela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shaniya.murphy@jazzpharma.com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Need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ARM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Attention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Tennessee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EPI-168774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Berger,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David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chad.dawkins@jazzpharma.com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Florida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Acaria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EPI-168777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Villalobosnieto,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Rafael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nicholas.firestine@jazzpharma.com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Service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Corporation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(HCSC)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EPI-168797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Chadehumbe,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Madeline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michael.moll@jazzpharma.com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Need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ARM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Attention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EPI-168804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Bhalla,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Sonam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shaniya.murphy@jazzpharma.com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50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UNSPECIFIED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HUB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EPI-16883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Jones,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Kayce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heather.dant@jazzpharma.com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North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Carolina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EPI-168833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Smith,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Douglas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randall.unzicker@jazzpharma.com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2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2" name="Table 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79011935"/>
              </p:ext>
            </p:extLst>
          </p:nvPr>
        </p:nvGraphicFramePr>
        <p:xfrm>
          <a:off x="548640" y="548640"/>
          <a:ext cx="11091672" cy="914400"/>
        </p:xfrm>
        <a:graphic>
          <a:graphicData uri="http://schemas.openxmlformats.org/drawingml/2006/table">
            <a:tbl>
              <a:tblPr/>
              <a:tblGrid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</a:tblGrid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Patient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Prescriber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Field Team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Case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Days Past Refill Due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Status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DNF Outcome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Payer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Pharmacy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Geography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EPI-168897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Steenari,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Maija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Riikka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tracy.scott@jazzpharma.com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-2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California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EPI-168909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Hallinan,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Barbara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julie.leach@jazzpharma.com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Denied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Kentucky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EPI-168922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Sabau,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Dragos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joanna.janota@jazzpharma.com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Centene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Acaria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EPI-168932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Jorge,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Kimberly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mark.finnegan@jazzpharma.com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Centene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Northeast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EPI-168955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Velayudam,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Kohilavani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shaniya.murphy@jazzpharma.com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EPI-168962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Collins,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James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randall.unzicker@jazzpharma.com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Need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ARM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Attention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Missouri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EPI-169044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Sweney,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Matthew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eric.winfree@jazzpharma.com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-3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EPI-169093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Bhatt,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Veda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sara.buerk@jazzpharma.com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California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EPI-169098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Holt,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Philip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shaniya.murphy@jazzpharma.com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(Aetna)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HUB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EPI-169118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King,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Tricia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luis.cruz@jazzpharma.com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Florida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EPI-169246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Gillson,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Natalie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chad.dawkins@jazzpharma.com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Florida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EPI-169248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Newman,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Joseph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randall.unzicker@jazzpharma.com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UNSPECIFIED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HUB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EPI-169401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Asaikar,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Shailesh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sara.buerk@jazzpharma.com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-15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California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EPI-169423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Mahfooz,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Naeem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julie.leach@jazzpharma.com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UNSPECIFIED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HUB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EPI-169432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Lim,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Jae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Hyung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nicholas.firestine@jazzpharma.com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Denied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UNSPECIFIED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HUB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EPI-169462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Van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Poppel,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Katherine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heather.dant@jazzpharma.com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BLUE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CROSS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BLUE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SHIELD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NORTH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CAROLINA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EPI-169574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Patil,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Prabhumallikarjun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shaniya.murphy@jazzpharma.com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EPI-169628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Doll,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Emily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joanna.janota@jazzpharma.com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-4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EPI-169631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Oviedo,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Sandra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eric.winfree@jazzpharma.com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Denied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UnitedHealthcare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HUB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EPI-169701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Tran,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Tuong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Vi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tracy.scott@jazzpharma.com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Cancelled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Denied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CASH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EPI-169754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Yadov,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Irina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michael.moll@jazzpharma.com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Meritain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Northeast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EPI-169848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Yadov,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Irina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michael.moll@jazzpharma.com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UnitedHealthcare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Northeast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EPI-17003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Fecske,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Erin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randall.unzicker@jazzpharma.com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All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Other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Assistance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Program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HUB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EPI-17010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Mcinnis,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Megan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heather.dant@jazzpharma.com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178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Cigna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EPI-17016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Luc,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Quyen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Navitus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 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Lumicera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2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3" name="Table 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79011935"/>
              </p:ext>
            </p:extLst>
          </p:nvPr>
        </p:nvGraphicFramePr>
        <p:xfrm>
          <a:off x="548640" y="548640"/>
          <a:ext cx="11091672" cy="914400"/>
        </p:xfrm>
        <a:graphic>
          <a:graphicData uri="http://schemas.openxmlformats.org/drawingml/2006/table">
            <a:tbl>
              <a:tblPr/>
              <a:tblGrid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</a:tblGrid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Patient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Prescriber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Field Team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Case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Days Past Refill Due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Status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DNF Outcome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Payer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Pharmacy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Geography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tracy.scott@jazzpharma.com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Solutions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EPI-17020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Thaggard,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Katherine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shaniya.murphy@jazzpharma.com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42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Prime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Therapeutics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EPI-17034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Ehrreich,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Steven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sara.buerk@jazzpharma.com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MedImpact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EPI-17051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Patel,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Rutu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stephanie.harris@jazzpharma.com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Service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Corporation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(HCSC)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EPI-17067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Centurion,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Alejandro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sara.buerk@jazzpharma.com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-3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Discontinued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New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York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Northeast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EPI-17111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Robinson,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Julia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tracy.scott@jazzpharma.com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-60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California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EPI-17153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Gieron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Korthals,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Maria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chad.dawkins@jazzpharma.com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41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Florida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Acaria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EPI-17240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Harini,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Chellamani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mark.finnegan@jazzpharma.com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Blue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Cross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Blue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Shield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Massachusetts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Northeast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EPI-17345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Charpentier,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Jeffrey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shaniya.murphy@jazzpharma.com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UNSPECIFIED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HUB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EPI-17375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Prakash,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Vikram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luis.cruz@jazzpharma.com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-8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Florida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Acaria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EPI-17380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Tran,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Linh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nicholas.firestine@jazzpharma.com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Texas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EPI-17411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Rao,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Vikram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sara.buerk@jazzpharma.com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52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Need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ARM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Attention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California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Amber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EPI-17413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Fritch,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Kristin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chad.dawkins@jazzpharma.com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Florida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Acaria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EPI-17435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Flamini,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Julio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shaniya.murphy@jazzpharma.com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EPI-17466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Kantamneni,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Trishna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sara.buerk@jazzpharma.com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Blue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Shield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California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EPI-17479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Naqvi,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Sayed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luis.cruz@jazzpharma.com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Denied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Florida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EPI-1748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Cousin,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Joshua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stephanie.harris@jazzpharma.com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UNSPECIFIED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HUB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EPI-17481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Keough,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Karen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nicholas.firestine@jazzpharma.com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41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Texas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Acaria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EPI-17483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Conway,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Erin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jerica.eco@jazzpharma.com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Denied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EPI-17495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Rao,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Lekha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tracy.scott@jazzpharma.com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Elevance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EPI-17510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Bell,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Kathryn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heather.dant@jazzpharma.com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All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Other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Medicaid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EPI-17527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Rosen,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Alyssa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michael.moll@jazzpharma.com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UNSPECIFIED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HUB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Northeast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EPI-17533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Fox,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Robert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heather.dant@jazzpharma.com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Elevance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EPI-17664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Wall,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Florence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nicholas.firestine@jazzpharma.com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53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Texas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EPI-17673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Batson,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Kristen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luis.cruz@jazzpharma.com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Denied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Florida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2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4" name="Table 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79011935"/>
              </p:ext>
            </p:extLst>
          </p:nvPr>
        </p:nvGraphicFramePr>
        <p:xfrm>
          <a:off x="548640" y="548640"/>
          <a:ext cx="11091672" cy="914400"/>
        </p:xfrm>
        <a:graphic>
          <a:graphicData uri="http://schemas.openxmlformats.org/drawingml/2006/table">
            <a:tbl>
              <a:tblPr/>
              <a:tblGrid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</a:tblGrid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Patient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Prescriber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Field Team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Case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Days Past Refill Due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Status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DNF Outcome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Payer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Pharmacy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Geography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EPI-17697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Hale,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David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shaniya.murphy@jazzpharma.com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Acaria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EPI-1777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Dhingra,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Neelu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luis.cruz@jazzpharma.com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97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Florida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Acaria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EPI-17787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Aboukhalil,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Bassel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shaniya.murphy@jazzpharma.com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UNSPECIFIED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HUB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EPI-17790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Zillgitt,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Andrew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julie.leach@jazzpharma.com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41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Need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ARM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Attention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Blue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Cross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Blue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Shield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Michigan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EPI-17807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Jucikas,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Mozhdeh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julie.leach@jazzpharma.com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Denied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UNSPECIFIED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HUB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EPI-17990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Nieves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Perez,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Vianny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luis.cruz@jazzpharma.com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Territory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Puerto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Rico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PR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EPI-1800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Benbadis,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Selim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chad.dawkins@jazzpharma.com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Florida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Acaria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EPI-18069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Watson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Np,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Missy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stephanie.harris@jazzpharma.com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Need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ARM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Attention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Texas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EPI-18150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Gardner,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Marisa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sara.buerk@jazzpharma.com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Blue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Shield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California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EPI-18184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Bains,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Harlori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eric.winfree@jazzpharma.com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Southwest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Catholic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Network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EPI-1824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Becu,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Christie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tracy.scott@jazzpharma.com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Hawaii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Medical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Service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Association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(HMSA)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EPI-18332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Klein,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Pavel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michael.moll@jazzpharma.com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Maryland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EPI-1834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Tang,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Ju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luis.cruz@jazzpharma.com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Florida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Acaria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EPI-1836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KUMARASAN,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KRITHIKA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stephanie.harris@jazzpharma.com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Missouri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Amber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EPI-18365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Cruz,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Helion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shaniya.murphy@jazzpharma.com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61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UnitedHealthcare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EPI-18479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Rossi,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Marvin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julie.leach@jazzpharma.com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EPI-18501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Kothawala,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Murtuza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luis.cruz@jazzpharma.com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-8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Florida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Acaria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EPI-18521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Bell,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Andrea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tracy.scott@jazzpharma.com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103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Sharp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Healthcare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EPI-18590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Nadkarni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Desai,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Divya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joanna.janota@jazzpharma.com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Molina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Healthcare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EPI-18646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Tofilon,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Janett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eric.winfree@jazzpharma.com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367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Denied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Texas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EPI-1870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Weekley,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Cristan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julie.leach@jazzpharma.com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EPI-18702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Rodriguez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Hernandez,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Janice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luis.cruz@jazzpharma.com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Territory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Puerto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Rico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PR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EPI-18719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Salas,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Jeremy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stephanie.harris@jazzpharma.com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UnitedHealthcare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EPI-1875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Fernandez,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Luis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jerica.eco@jazzpharma.com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Northeast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EPI-18754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Thompson,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Connor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2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5" name="Table 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79011935"/>
              </p:ext>
            </p:extLst>
          </p:nvPr>
        </p:nvGraphicFramePr>
        <p:xfrm>
          <a:off x="548640" y="548640"/>
          <a:ext cx="11091672" cy="914400"/>
        </p:xfrm>
        <a:graphic>
          <a:graphicData uri="http://schemas.openxmlformats.org/drawingml/2006/table">
            <a:tbl>
              <a:tblPr/>
              <a:tblGrid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</a:tblGrid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Patient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Prescriber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Field Team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Case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Days Past Refill Due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Status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DNF Outcome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Payer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Pharmacy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Geography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michael.moll@jazzpharma.com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EPI-18755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Ess,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Kevin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randall.unzicker@jazzpharma.com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EPI-18774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Rosen,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Alyssa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michael.moll@jazzpharma.com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EPI-18781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Rendon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Cantu,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Luis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eric.winfree@jazzpharma.com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COORDINATED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WA-ESI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EPI-18787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Abdelmoity,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Ahmed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randall.unzicker@jazzpharma.com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60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OptumRx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EPI-18789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Chung,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eric.winfree@jazzpharma.com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Need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ARM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Attention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UnitedHealthcare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EPI-18807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Prakash,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Vikram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luis.cruz@jazzpharma.com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Florida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Acaria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EPI-18862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Wechsler,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Robert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eric.winfree@jazzpharma.com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-3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Blue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Cross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and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Blue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Shield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Association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EPI-18959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Pierson,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Bobby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nicholas.firestine@jazzpharma.com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Centene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Acaria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EPI-18967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Kerner,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Nicole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joanna.janota@jazzpharma.com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EPI-19030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Hirsch,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Lawrence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mark.finnegan@jazzpharma.com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-10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Northeast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EPI-1907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Krohl,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Natalie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heather.dant@jazzpharma.com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UNSPECIFIED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HUB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EPI-19111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Krcal,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Otakar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heather.dant@jazzpharma.com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UnitedHealthcare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Amber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EPI-19127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Davis,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Ronald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luis.cruz@jazzpharma.com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Elevance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EPI-19158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Freeberg,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Max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mark.finnegan@jazzpharma.com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Northeast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EPI-19161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EMERY,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LUCY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mark.finnegan@jazzpharma.com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102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Northeast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EPI-19164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Pan,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Angeline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sara.buerk@jazzpharma.com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California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Amber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EPI-19168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Pilch,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John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chad.dawkins@jazzpharma.com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Humana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EPI-19181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Tran,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Linh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nicholas.firestine@jazzpharma.com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Blue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Cross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and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Blue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Shield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Kansas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EPI-19224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Zarroli,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Katherine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chad.dawkins@jazzpharma.com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Florida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EPI-19363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Motika,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Paul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sara.buerk@jazzpharma.com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EPI-1945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Armstrong,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Robert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heather.dant@jazzpharma.com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BCBS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NORTH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CAROLINA-PRIME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THERAP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EPI-19458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Rider,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Steven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heather.dant@jazzpharma.com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UnitedHealthcare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EPI-19493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Schreckinger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Rodas,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Cristina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shaniya.murphy@jazzpharma.com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UnitedHealthcare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EPI-1950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Henry,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Christopher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heather.dant@jazzpharma.com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Elevance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EPI-19539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Sheah,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Jessica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Tennessee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2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6" name="Table 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79011935"/>
              </p:ext>
            </p:extLst>
          </p:nvPr>
        </p:nvGraphicFramePr>
        <p:xfrm>
          <a:off x="548640" y="548640"/>
          <a:ext cx="11091672" cy="914400"/>
        </p:xfrm>
        <a:graphic>
          <a:graphicData uri="http://schemas.openxmlformats.org/drawingml/2006/table">
            <a:tbl>
              <a:tblPr/>
              <a:tblGrid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</a:tblGrid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Patient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Prescriber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Field Team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Case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Days Past Refill Due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Status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DNF Outcome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Payer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Pharmacy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Geography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heather.dant@jazzpharma.com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EPI-1956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Pina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Garza,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Jesus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Eric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shaniya.murphy@jazzpharma.com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MedImpact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EPI-1959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Fierostevens,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Rodolpho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eric.winfree@jazzpharma.com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Texas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EPI-19594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Rodriguez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Hernandez,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Janice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luis.cruz@jazzpharma.com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Territory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Puerto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Rico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PR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EPI-19600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Ostendorf,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Adam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julie.leach@jazzpharma.com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EPI-19603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Foradada,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Jose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chad.dawkins@jazzpharma.com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41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Florida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EPI-19632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Agan,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Matthew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shaniya.murphy@jazzpharma.com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EPI-19646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STRICKER,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MALLORY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sara.buerk@jazzpharma.com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California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EPI-1965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Mcguire,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Lisa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joanna.janota@jazzpharma.com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Service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Corporation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(HCSC)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EPI-19720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Boutilier,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Susan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heather.dant@jazzpharma.com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N.C.MEDICAID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EPI-1974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Flasterstein,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Bernardo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luis.cruz@jazzpharma.com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Florida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EPI-19826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Emory,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Rebecca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shaniya.murphy@jazzpharma.com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EPI-19929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Foradada,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Jose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chad.dawkins@jazzpharma.com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40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Florida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EPI-19953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Santiago,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Jason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joanna.janota@jazzpharma.com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EPI-20005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Mcgoldrick,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Patricia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jerica.eco@jazzpharma.com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74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Denied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Elevance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Northeast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EPI-20012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Parikh,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Neel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chad.dawkins@jazzpharma.com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138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OptumRx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EPI-20066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Heath,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Caleb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heather.dant@jazzpharma.com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BlueCross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BlueShield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Tennessee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EPI-20085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Reed,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Laurel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julie.leach@jazzpharma.com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48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All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Other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Assistance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Program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Lumicera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EPI-20141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Reed,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Laurel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julie.leach@jazzpharma.com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Denied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Blue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Cross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and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Blue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Shield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Association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EPI-20146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Tonsgard,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James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joanna.janota@jazzpharma.com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47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Centene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EPI-20154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Wechsler,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Robert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eric.winfree@jazzpharma.com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Idaho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EPI-20194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Bolton,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Jeffrey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mark.finnegan@jazzpharma.com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Independence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Blue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Cross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Northeast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EPI-20228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Gardner,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Marisa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sara.buerk@jazzpharma.com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California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EPI-20287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Zafar,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Muhammad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heather.dant@jazzpharma.com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-10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North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Carolina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EPI-20304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Achi,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Oliver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stephanie.harris@jazzpharma.com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EPI-20316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Armacost,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Michelle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California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Lumicera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2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7" name="Table 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79011935"/>
              </p:ext>
            </p:extLst>
          </p:nvPr>
        </p:nvGraphicFramePr>
        <p:xfrm>
          <a:off x="548640" y="548640"/>
          <a:ext cx="11091672" cy="914400"/>
        </p:xfrm>
        <a:graphic>
          <a:graphicData uri="http://schemas.openxmlformats.org/drawingml/2006/table">
            <a:tbl>
              <a:tblPr/>
              <a:tblGrid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</a:tblGrid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Patient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Prescriber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Field Team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Case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Days Past Refill Due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Status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DNF Outcome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Payer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Pharmacy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Geography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tracy.scott@jazzpharma.com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EPI-20396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Zemina,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Kristen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chad.dawkins@jazzpharma.com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Florida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EPI-2049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Nariai,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Hiroki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tracy.scott@jazzpharma.com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California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EPI-20509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Steenari,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Maija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Riikka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tracy.scott@jazzpharma.com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Blue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Shield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California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EPI-2052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Lallas,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Matt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luis.cruz@jazzpharma.com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-11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Florida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Acaria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EPI-20521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Herman,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Isabella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randall.unzicker@jazzpharma.com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EPI-20526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Apeatu,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Samuel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jerica.eco@jazzpharma.com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45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UnitedHealthcare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Northeast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EPI-20527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Mcgoldrick,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Patricia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jerica.eco@jazzpharma.com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40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All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Other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Assistance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Program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Northeast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EPI-20645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Abram,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Harry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chad.dawkins@jazzpharma.com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EPI-2067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Goyal,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Monisha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shaniya.murphy@jazzpharma.com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EPI-20672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Li,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jerica.eco@jazzpharma.com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New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York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EPI-20717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Lee,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Chon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heather.dant@jazzpharma.com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UNSPECIFIED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HUB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EPI-20788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Eze,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Chigolum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eric.winfree@jazzpharma.com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97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Texas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Amber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EPI-20802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Hussain,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Ammar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luis.cruz@jazzpharma.com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EPI-20806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Winesett,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Steven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chad.dawkins@jazzpharma.com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Florida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Acaria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EPI-20834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Eze,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Chigolum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eric.winfree@jazzpharma.com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All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Other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Medicaid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Amber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EPI-20880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Kim,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Hyunmi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sara.buerk@jazzpharma.com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California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EPI-20895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Kney,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Adam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joanna.janota@jazzpharma.com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Service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Corporation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(HCSC)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HUB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EPI-20908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Aungaroon,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Gewalin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julie.leach@jazzpharma.com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Indiana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EPI-20956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Avila,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Mirla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nicholas.firestine@jazzpharma.com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Texas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EPI-2103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Zempel,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John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stephanie.harris@jazzpharma.com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Missouri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EPI-21059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DABROWSKI,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MICHAEL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eric.winfree@jazzpharma.com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40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UnitedHealthcare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EPI-21098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Mathisen,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Jan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shaniya.murphy@jazzpharma.com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55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EPI-21109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Gaitanis,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John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mark.finnegan@jazzpharma.com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Blue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Cross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Blue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Shield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Massachusetts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Northeast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EPI-2112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Numis,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Adam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sara.buerk@jazzpharma.com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45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Need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ARM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Attention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California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2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8" name="Table 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79011935"/>
              </p:ext>
            </p:extLst>
          </p:nvPr>
        </p:nvGraphicFramePr>
        <p:xfrm>
          <a:off x="548640" y="548640"/>
          <a:ext cx="11091672" cy="914400"/>
        </p:xfrm>
        <a:graphic>
          <a:graphicData uri="http://schemas.openxmlformats.org/drawingml/2006/table">
            <a:tbl>
              <a:tblPr/>
              <a:tblGrid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</a:tblGrid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Patient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Prescriber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Field Team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Case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Days Past Refill Due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Status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DNF Outcome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Payer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Pharmacy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Geography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EPI-21159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Fequiere,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Pierre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chad.dawkins@jazzpharma.com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Georgia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EPI-21166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Andrews,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Ena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chad.dawkins@jazzpharma.com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Florida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Acaria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EPI-21193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Payne,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Angela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nicholas.firestine@jazzpharma.com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UNSPECIFIED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HUB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EPI-21278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Gazzola,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Deana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eric.winfree@jazzpharma.com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EPI-21313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Koh,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Sookyong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randall.unzicker@jazzpharma.com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Iowa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EPI-21325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Mathew,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Ann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nicholas.firestine@jazzpharma.com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Texas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EPI-21357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Baranano,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Kristin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michael.moll@jazzpharma.com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46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Denied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Carefirst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BlueCross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BlueShield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EPI-2140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Morgan,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Drew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heather.dant@jazzpharma.com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North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Carolina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EPI-21464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Kavilaveettil,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Reena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chad.dawkins@jazzpharma.com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Need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ARM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Attention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Humana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EPI-21509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Moretz,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Katherine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chad.dawkins@jazzpharma.com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53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UnitedHealthcare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EPI-21534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Katyayan,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Akshat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stephanie.harris@jazzpharma.com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UnitedHealthcare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EPI-21550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Moufawad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Achkar,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Christelle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mark.finnegan@jazzpharma.com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-8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Denied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Centene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Acaria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Northeast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EPI-21568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Lucietto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Sieradzki,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Therese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joanna.janota@jazzpharma.com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EPI-21570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Shih,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Tina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sara.buerk@jazzpharma.com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42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California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EPI-21707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Motika,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Paul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sara.buerk@jazzpharma.com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MODA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Lumicera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EPI-21714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Gupte,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Gargi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stephanie.harris@jazzpharma.com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EPI-21724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Kennedy,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Burton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heather.dant@jazzpharma.com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UnitedHealthcare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EPI-21770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Deng,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Kat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eric.winfree@jazzpharma.com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Centene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Northeast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EPI-21830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Bannout,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Firas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tracy.scott@jazzpharma.com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60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California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Amber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EPI-21867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Northam,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Ralph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heather.dant@jazzpharma.com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North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Carolina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EPI-21871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Shahani,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Dave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nicholas.firestine@jazzpharma.com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Texas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EPI-2196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Croop,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Brittany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randall.unzicker@jazzpharma.com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42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Denied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OptumRx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EPI-21974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Wild,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Brittani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stephanie.harris@jazzpharma.com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EPI-21982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Benard,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Shawna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tracy.scott@jazzpharma.com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EPI-2205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Agashe,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Shruti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heather.dant@jazzpharma.com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All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Other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Medicaid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2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9" name="Table 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79011935"/>
              </p:ext>
            </p:extLst>
          </p:nvPr>
        </p:nvGraphicFramePr>
        <p:xfrm>
          <a:off x="548640" y="548640"/>
          <a:ext cx="11091672" cy="914400"/>
        </p:xfrm>
        <a:graphic>
          <a:graphicData uri="http://schemas.openxmlformats.org/drawingml/2006/table">
            <a:tbl>
              <a:tblPr/>
              <a:tblGrid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</a:tblGrid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Patient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Prescriber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Field Team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Case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Days Past Refill Due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Status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DNF Outcome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Payer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Pharmacy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Geography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EPI-22244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Sivakumar,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Delini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tracy.scott@jazzpharma.com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California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EPI-22294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Phillips,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Donald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tracy.scott@jazzpharma.com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Cigna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EPI-22300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Pinzon,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Alberto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luis.cruz@jazzpharma.com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EPI-22320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Croft,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Steven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stephanie.harris@jazzpharma.com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UNSPECIFIED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HUB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EPI-22340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Knupp,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Kelly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randall.unzicker@jazzpharma.com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EPI-22349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Smith,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Lisa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joanna.janota@jazzpharma.com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EPI-2237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Gupta,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Ajay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julie.leach@jazzpharma.com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-8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Cancelled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Denied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UNSPECIFIED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HUB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EPI-22389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Cobo,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Nicole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tracy.scott@jazzpharma.com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53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EPI-2240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Fecske,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Erin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randall.unzicker@jazzpharma.com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47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Missouri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Amber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EPI-22467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Franz,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David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julie.leach@jazzpharma.com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Ohio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EPI-22507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Deng,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Kat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eric.winfree@jazzpharma.com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Denied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Centene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Northeast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EPI-22573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Mathisen,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Jan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shaniya.murphy@jazzpharma.com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ProAct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EPI-22607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Haws,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Michael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eric.winfree@jazzpharma.com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Molina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Healthcare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EPI-22689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Hermoso,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Heather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nicholas.firestine@jazzpharma.com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Texas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EPI-22736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Tang,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Esther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heather.dant@jazzpharma.com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53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Centene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EPI-22759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Mcgoldrick,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Patricia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jerica.eco@jazzpharma.com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Northeast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EPI-22887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Pearl,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Phillip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mark.finnegan@jazzpharma.com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Centene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Acaria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Northeast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EPI-22940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Ehrreich,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Steven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sara.buerk@jazzpharma.com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California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EPI-22982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Alexander,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Halley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heather.dant@jazzpharma.com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-9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Cigna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EPI-23079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Resnick,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Trevor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luis.cruz@jazzpharma.com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102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Denied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UNSPECIFIED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HUB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EPI-23091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Zaher,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Naoir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luis.cruz@jazzpharma.com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-2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Florida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Blue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EPI-23115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Armour,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Eric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julie.leach@jazzpharma.com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-108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Michigan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Amber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EPI-23123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Estupinan,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Danny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chad.dawkins@jazzpharma.com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Florida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Acaria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EPI-23176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Elkins,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Kathryn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stephanie.harris@jazzpharma.com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EPI-23191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Takacs,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Danielle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stephanie.harris@jazzpharma.com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Navitus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Solutions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Lumicera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29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0" name="Table 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79011935"/>
              </p:ext>
            </p:extLst>
          </p:nvPr>
        </p:nvGraphicFramePr>
        <p:xfrm>
          <a:off x="548640" y="548640"/>
          <a:ext cx="11091672" cy="914400"/>
        </p:xfrm>
        <a:graphic>
          <a:graphicData uri="http://schemas.openxmlformats.org/drawingml/2006/table">
            <a:tbl>
              <a:tblPr/>
              <a:tblGrid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</a:tblGrid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Patient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Prescriber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Field Team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Case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Days Past Refill Due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Status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DNF Outcome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Payer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Pharmacy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Geography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EPI-23195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Lallas,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Matt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luis.cruz@jazzpharma.com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Florida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Acaria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EPI-23201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Lankford,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Jeremy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stephanie.harris@jazzpharma.com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Denied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EPI-23220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Thornton,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Jeffrey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randall.unzicker@jazzpharma.com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UnitedHealthcare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EPI-23250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Vu,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Thuyanh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heather.dant@jazzpharma.com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Elevance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EPI-23251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Oconnor,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Sunila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joanna.janota@jazzpharma.com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UnitedHealthcare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EPI-23288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Wolf,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jerica.eco@jazzpharma.com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60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New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York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Northeast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EPI-23322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Zahoor,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Salman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stephanie.harris@jazzpharma.com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Summit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Community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EPI-23361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Masters,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Laura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nicholas.firestine@jazzpharma.com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Denied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Elevance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EPI-23392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Chamberlain,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Lauren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michael.moll@jazzpharma.com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Pennsylvania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Northeast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EPI-23476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Nievera,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Conrad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randall.unzicker@jazzpharma.com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Denied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UNSPECIFIED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HUB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EPI-23485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Griffin,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Kathleen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heather.dant@jazzpharma.com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North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Carolina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EPI-23494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Abdelsalam,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Hossam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stephanie.harris@jazzpharma.com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Service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Corporation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(HCSC)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EPI-23503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Kim,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James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tracy.scott@jazzpharma.com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California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EPI-23671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Maturu,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Sarita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julie.leach@jazzpharma.com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EPI-23703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Henry,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Julia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luis.cruz@jazzpharma.com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Cancelled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UNSPECIFIED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HUB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EPI-23808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Rajaraman,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Rajsekar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tracy.scott@jazzpharma.com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49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Elevance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EPI-23834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Iskander,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Raafat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tracy.scott@jazzpharma.com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-8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California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EPI-23846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Shah,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Nishant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joanna.janota@jazzpharma.com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EPI-23868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Burr,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Tyler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nicholas.firestine@jazzpharma.com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132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Texas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EPI-23941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Flangini,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Alexia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heather.dant@jazzpharma.com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HIGHMARK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COMMERICAL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RETAIL-ESI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EPI-23951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Chirigos,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Allison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tracy.scott@jazzpharma.com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Department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Defense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EPI-23968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Lallas,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Matt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luis.cruz@jazzpharma.com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89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Denied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BCBS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FLORIDA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EPI-23986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Prieto,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Stephanie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luis.cruz@jazzpharma.com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Florida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Acaria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EPI-24030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Lohr,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Molly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joanna.janota@jazzpharma.com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Denied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Navitus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Solutions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Lumicera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EPI-24103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Kessler,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Sudha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michael.moll@jazzpharma.com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Horizon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Blue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Cross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Blue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Shield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New 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30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1" name="Table 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79011935"/>
              </p:ext>
            </p:extLst>
          </p:nvPr>
        </p:nvGraphicFramePr>
        <p:xfrm>
          <a:off x="548640" y="548640"/>
          <a:ext cx="11091672" cy="914400"/>
        </p:xfrm>
        <a:graphic>
          <a:graphicData uri="http://schemas.openxmlformats.org/drawingml/2006/table">
            <a:tbl>
              <a:tblPr/>
              <a:tblGrid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</a:tblGrid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Patient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Prescriber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Field Team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Case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Days Past Refill Due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Status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DNF Outcome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Payer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Pharmacy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Geography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Jersey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EPI-24110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Sharma,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Dhiraj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michael.moll@jazzpharma.com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Northeast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EPI-24173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Lado,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Fred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jerica.eco@jazzpharma.com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Denied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Northeast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EPI-24184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Mosias,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Samantha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luis.cruz@jazzpharma.com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Florida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EPI-24237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Wang,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Huijun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michael.moll@jazzpharma.com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EPI-2426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Jacinto,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Sergio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chad.dawkins@jazzpharma.com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-9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Florida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Acaria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EPI-2429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Cepeda,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Nelson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nicholas.firestine@jazzpharma.com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91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Humana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EPI-243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KIM,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DAE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tracy.scott@jazzpharma.com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Centene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EPI-2443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Husari,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Khalil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michael.moll@jazzpharma.com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-7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Centene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EPI-24471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Suter,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Bernhard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stephanie.harris@jazzpharma.com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Service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Corporation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(HCSC)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EPI-24473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Robinson,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Rhonda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stephanie.harris@jazzpharma.com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EPI-24614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Alumin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Osman,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Ebtisam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shaniya.murphy@jazzpharma.com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EPI-24743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Jordan,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Brittany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tracy.scott@jazzpharma.com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California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Amber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EPI-24745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Keator,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Cynthia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nicholas.firestine@jazzpharma.com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84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EPI-24791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Nayak,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Anuranjita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stephanie.harris@jazzpharma.com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EPI-24796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Bragg,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Julian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shaniya.murphy@jazzpharma.com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40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Oscar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EPI-248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Popova,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Valentina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jerica.eco@jazzpharma.com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New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York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Northeast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EPI-24847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Manlapaz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Mann,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Alex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jerica.eco@jazzpharma.com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Elevance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Northeast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EPI-24910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LAROCHELLE,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CHLOE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chad.dawkins@jazzpharma.com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270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OptumRx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EPI-24934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Mcgregor,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Amy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shaniya.murphy@jazzpharma.com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Mississippi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EPI-24949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Chacon,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Monica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eric.winfree@jazzpharma.com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54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EPI-25019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Kim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Mcmanus,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Olivia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tracy.scott@jazzpharma.com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Denied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Navitus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Solutions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Lumicera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EPI-25081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Pavuluri,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Spriha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randall.unzicker@jazzpharma.com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UnitedHealthcare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EPI-25158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Park,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Kristen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randall.unzicker@jazzpharma.com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UnitedHealthcare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EPI-25174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Weisenberg,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Judith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stephanie.harris@jazzpharma.com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Need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ARM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Attention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EPI-25181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Hakimi,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Andrea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 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Amber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3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2" name="Table 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79011935"/>
              </p:ext>
            </p:extLst>
          </p:nvPr>
        </p:nvGraphicFramePr>
        <p:xfrm>
          <a:off x="548640" y="548640"/>
          <a:ext cx="11091672" cy="914400"/>
        </p:xfrm>
        <a:graphic>
          <a:graphicData uri="http://schemas.openxmlformats.org/drawingml/2006/table">
            <a:tbl>
              <a:tblPr/>
              <a:tblGrid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</a:tblGrid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Patient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Prescriber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Field Team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Case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Days Past Refill Due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Status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DNF Outcome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Payer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Pharmacy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Geography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chad.dawkins@jazzpharma.com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Carolina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EPI-25194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Asaikar,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Shailesh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sara.buerk@jazzpharma.com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Blue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Shield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California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EPI-25214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Kei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Lee,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Ricky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randall.unzicker@jazzpharma.com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Kansas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EPI-25239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Sivakumar,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Delini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tracy.scott@jazzpharma.com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42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WELLCARE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CNC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MEDICARE-ESI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EPI-25279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Brophy,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Shannon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michael.moll@jazzpharma.com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Denied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Northeast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EPI-25345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Mccabe,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Paul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michael.moll@jazzpharma.com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40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Pennsylvania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Northeast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EPI-25384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Hitchcock,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Tamara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tracy.scott@jazzpharma.com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68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UnitedHealthcare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EPI-25453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Smith,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Rachel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stephanie.harris@jazzpharma.com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Department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Defense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EPI-25499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GARCIA,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MEKKA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michael.moll@jazzpharma.com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Denied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Northeast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EPI-2556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Mohanty,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Deepankar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stephanie.harris@jazzpharma.com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47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Cigna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EPI-25594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Farhidvash,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Fariba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tracy.scott@jazzpharma.com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UNSPECIFIED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HUB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EPI-25638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LEE,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JAE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shaniya.murphy@jazzpharma.com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56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Kentucky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EPI-25696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Garland,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Erich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eric.winfree@jazzpharma.com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UnitedHealthcare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EPI-25703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Udovenko,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Valeriya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stephanie.harris@jazzpharma.com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Need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ARM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Attention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EPI-25737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Sattar,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Shifteh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tracy.scott@jazzpharma.com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California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EPI-25741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Ficker,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David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julie.leach@jazzpharma.com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Kentucky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Amber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EPI-25772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Labiner,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Katherine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nicholas.firestine@jazzpharma.com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Denied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UNSPECIFIED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HUB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EPI-25829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MARTIN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SAAVEDRA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MD,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JUAN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luis.cruz@jazzpharma.com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Denied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Florida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Blue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EPI-25838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Makos,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Mignon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stephanie.harris@jazzpharma.com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73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UnitedHealthcare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EPI-25839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Bigelow,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Jeffrey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eric.winfree@jazzpharma.com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Denied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Navitus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Solutions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Lumicera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EPI-25844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Ireland,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Thomas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heather.dant@jazzpharma.com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EPI-25857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Speltz,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Laura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randall.unzicker@jazzpharma.com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55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Minnesota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EPI-25928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Gillig,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Catherine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joanna.janota@jazzpharma.com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Indiana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EPI-25966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Conway,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Erin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jerica.eco@jazzpharma.com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Denied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Northeast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EPI-25976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Peters,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Jurriaan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mark.finnegan@jazzpharma.com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Connecticut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Northeast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EPI-2600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Fajardo,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Marytery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Florida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Acaria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3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3" name="Table 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79011935"/>
              </p:ext>
            </p:extLst>
          </p:nvPr>
        </p:nvGraphicFramePr>
        <p:xfrm>
          <a:off x="548640" y="548640"/>
          <a:ext cx="11091672" cy="914400"/>
        </p:xfrm>
        <a:graphic>
          <a:graphicData uri="http://schemas.openxmlformats.org/drawingml/2006/table">
            <a:tbl>
              <a:tblPr/>
              <a:tblGrid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</a:tblGrid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Patient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Prescriber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Field Team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Case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Days Past Refill Due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Status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DNF Outcome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Payer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Pharmacy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Geography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luis.cruz@jazzpharma.com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EPI-26048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Perez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Fernandez,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Carlos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luis.cruz@jazzpharma.com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Territory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Puerto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Rico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PR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EPI-26088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Corrales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Reyes,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Enme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luis.cruz@jazzpharma.com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Florida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Acaria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EPI-26099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Currier,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Heidi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randall.unzicker@jazzpharma.com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EPI-26103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Ritter,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David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julie.leach@jazzpharma.com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EPI-26346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Weatherspoon,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Sarah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shaniya.murphy@jazzpharma.com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61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Blue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Cross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and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Blue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Shield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Association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EPI-26388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Wolf,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jerica.eco@jazzpharma.com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New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York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Northeast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EPI-26396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King,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Tricia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luis.cruz@jazzpharma.com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-2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EPI-26472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Kanoff,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Richard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chad.dawkins@jazzpharma.com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Florida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Acaria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EPI-26483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Olson,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Heather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mark.finnegan@jazzpharma.com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EPI-26610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Mehta,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Heeral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michael.moll@jazzpharma.com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Centene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Northeast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EPI-26645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Bannout,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Firas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tracy.scott@jazzpharma.com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California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Amber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EPI-26648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Nelson,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Clint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eric.winfree@jazzpharma.com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OptumRx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EPI-26670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Hyslop,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Ann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sara.buerk@jazzpharma.com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63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Navitus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Solutions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Lumicera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EPI-26698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Herekar,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Aamr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eric.winfree@jazzpharma.com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72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Presbyterian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Healthcare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Services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EPI-26720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Brown,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David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tracy.scott@jazzpharma.com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California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EPI-26753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Doll,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Emily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joanna.janota@jazzpharma.com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109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Denied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EPI-26940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Parackal,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Elizabeth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tracy.scott@jazzpharma.com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California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Lumicera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EPI-26953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Henry,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Julia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luis.cruz@jazzpharma.com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EPI-26960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Strickland,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Suzanne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chad.dawkins@jazzpharma.com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Capital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Rx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EPI-26989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Aboumatar,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Sami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nicholas.firestine@jazzpharma.com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Blue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Cross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and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Blue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Shield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Alabama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EPI-27001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Emory,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Rebecca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shaniya.murphy@jazzpharma.com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Capital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Rx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EPI-27012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Benbadis,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Selim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chad.dawkins@jazzpharma.com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Denied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UNSPECIFIED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HUB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EPI-27041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Zemina,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Kristen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chad.dawkins@jazzpharma.com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EPI-27064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Mathew,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Ann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nicholas.firestine@jazzpharma.com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Texas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EPI-2707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Khan,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Gulam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50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3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4" name="Table 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79011935"/>
              </p:ext>
            </p:extLst>
          </p:nvPr>
        </p:nvGraphicFramePr>
        <p:xfrm>
          <a:off x="548640" y="548640"/>
          <a:ext cx="11091672" cy="914400"/>
        </p:xfrm>
        <a:graphic>
          <a:graphicData uri="http://schemas.openxmlformats.org/drawingml/2006/table">
            <a:tbl>
              <a:tblPr/>
              <a:tblGrid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</a:tblGrid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Patient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Prescriber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Field Team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Case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Days Past Refill Due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Status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DNF Outcome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Payer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Pharmacy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Geography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julie.leach@jazzpharma.com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EPI-27073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Sabau,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Dragos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joanna.janota@jazzpharma.com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Centene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Acaria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EPI-27164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Nghiemphu,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Phioanh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tracy.scott@jazzpharma.com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91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EPI-27231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Koszer,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Samuel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jerica.eco@jazzpharma.com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New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York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Northeast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EPI-27247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Razavi,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Babak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sara.buerk@jazzpharma.com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-14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EPI-27269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Steenari,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Maija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Riikka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tracy.scott@jazzpharma.com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Denied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Elevance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EPI-27273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Mcfadden,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Kathryn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chad.dawkins@jazzpharma.com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Florida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Blue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EPI-27280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Vu,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Thuyanh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heather.dant@jazzpharma.com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80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Blue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Cross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and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Blue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Shield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Association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EPI-27302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Kumar,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Ragasri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joanna.janota@jazzpharma.com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Iowa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EPI-27313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Malik,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Saleem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nicholas.firestine@jazzpharma.com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EPI-27415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Parkhurst,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Samantha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randall.unzicker@jazzpharma.com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EPI-27425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Rashid,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Razi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nicholas.firestine@jazzpharma.com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56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UNSPECIFIED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HUB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EPI-2744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Parikh,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Neel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chad.dawkins@jazzpharma.com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-7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Florida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Acaria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EPI-27448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Franz,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David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julie.leach@jazzpharma.com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UnitedHealthcare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EPI-27508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Kunecka,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Paulina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randall.unzicker@jazzpharma.com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UNSPECIFIED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HUB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EPI-27532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Beckett,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Isabel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nicholas.firestine@jazzpharma.com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Texas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EPI-2758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Harmon,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Joseph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eric.winfree@jazzpharma.com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EPI-27608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Torabi,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Amir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nicholas.firestine@jazzpharma.com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90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Texas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Acaria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EPI-27609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Chatman,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Micaela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randall.unzicker@jazzpharma.com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Minnesota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HUB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EPI-2763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Bajaj,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Harjit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michael.moll@jazzpharma.com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UnitedHealthcare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EPI-2765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Golden,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Alana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sara.buerk@jazzpharma.com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Molina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Healthcare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EPI-27718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Kanner,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Andres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luis.cruz@jazzpharma.com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UNSPECIFIED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HUB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EPI-27725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Calley,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Clifford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nicholas.firestine@jazzpharma.com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Denied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Texas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EPI-27728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Flamini,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Julio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shaniya.murphy@jazzpharma.com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Denied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EPI-27737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Rajaraman,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Rajsekar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tracy.scott@jazzpharma.com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-1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California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EPI-27741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Marmo,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Erica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Pennsylvania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Northeast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3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5" name="Table 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79011935"/>
              </p:ext>
            </p:extLst>
          </p:nvPr>
        </p:nvGraphicFramePr>
        <p:xfrm>
          <a:off x="548640" y="548640"/>
          <a:ext cx="11091672" cy="914400"/>
        </p:xfrm>
        <a:graphic>
          <a:graphicData uri="http://schemas.openxmlformats.org/drawingml/2006/table">
            <a:tbl>
              <a:tblPr/>
              <a:tblGrid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</a:tblGrid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Patient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Prescriber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Field Team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Case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Days Past Refill Due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Status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DNF Outcome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Payer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Pharmacy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Geography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michael.moll@jazzpharma.com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EPI-27764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Hainlen,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Meagan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nicholas.firestine@jazzpharma.com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62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MedImpact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EPI-27772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Saneto,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Russ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sara.buerk@jazzpharma.com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Denied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RxBenefits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Lumicera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EPI-27865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Bethea,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Jason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heather.dant@jazzpharma.com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Centene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EPI-27866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Pearl,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Phillip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mark.finnegan@jazzpharma.com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-1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Massachusetts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Northeast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EPI-27884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Jain,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Sandip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chad.dawkins@jazzpharma.com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Molina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Healthcare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EPI-27906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Garcia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Mendez,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Leonardo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nicholas.firestine@jazzpharma.com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Texas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EPI-27937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Lockrow,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Jason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sara.buerk@jazzpharma.com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EPI-27984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Parikh,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Neel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chad.dawkins@jazzpharma.com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EPI-28165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Reed,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Chrystal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tracy.scott@jazzpharma.com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EPI-28220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Kaulas,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Himanshu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stephanie.harris@jazzpharma.com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41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Service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Corporation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(HCSC)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Amber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EPI-28236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Melendez-zaidi,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Alexandria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eric.winfree@jazzpharma.com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49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Texas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Amber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EPI-2826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Bertrand,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Mary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stephanie.harris@jazzpharma.com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Blue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Cross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Blue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Shield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Minnesota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EPI-28262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Keator,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Cynthia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nicholas.firestine@jazzpharma.com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Texas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EPI-28314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Shahnawaz,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Mohammed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heather.dant@jazzpharma.com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Navitus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Solutions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Lumicera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EPI-28346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Jennings,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Tara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michael.moll@jazzpharma.com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Pennsylvania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Northeast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EPI-28390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Agricola,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Karen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julie.leach@jazzpharma.com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Denied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All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Other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Assistance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Program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Lumicera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EPI-28416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Chapa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Davila,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Javier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luis.cruz@jazzpharma.com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Territory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Puerto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Rico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PR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EPI-2845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Todd,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Lynette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shaniya.murphy@jazzpharma.com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67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EPI-28454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Seinfeld,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Syndi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luis.cruz@jazzpharma.com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Florida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Acaria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EPI-2849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Gedzelman,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Evan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shaniya.murphy@jazzpharma.com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Centene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EPI-28505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Lavin,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Nicole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nicholas.firestine@jazzpharma.com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NAVITUS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SOLUTIONS-NAVITUS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EPI-28563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Jiang,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Huiyuan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tracy.scott@jazzpharma.com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Need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ARM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Attention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California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EPI-28568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Polacek,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Kacie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heather.dant@jazzpharma.com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53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Tennessee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EPI-28594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Marsh,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Eric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michael.moll@jazzpharma.com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OptumRx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Northeast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EPI-28599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Skjei,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Karen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46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UNSPECIFIED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HUB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3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6" name="Table 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79011935"/>
              </p:ext>
            </p:extLst>
          </p:nvPr>
        </p:nvGraphicFramePr>
        <p:xfrm>
          <a:off x="548640" y="548640"/>
          <a:ext cx="11091672" cy="914400"/>
        </p:xfrm>
        <a:graphic>
          <a:graphicData uri="http://schemas.openxmlformats.org/drawingml/2006/table">
            <a:tbl>
              <a:tblPr/>
              <a:tblGrid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</a:tblGrid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Patient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Prescriber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Field Team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Case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Days Past Refill Due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Status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DNF Outcome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Payer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Pharmacy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Geography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eric.winfree@jazzpharma.com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EPI-2862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Kaulas,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Himanshu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stephanie.harris@jazzpharma.com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Need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ARM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Attention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Missouri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EPI-28678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Von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Allmen,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Gretchen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stephanie.harris@jazzpharma.com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Texas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EPI-28760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Pawar,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Kailash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randall.unzicker@jazzpharma.com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EPI-2881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Lalor,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Kathryn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shaniya.murphy@jazzpharma.com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Denied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Blue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Cross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and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Blue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Shield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Association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EPI-28824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Griffith,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Kimberly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joanna.janota@jazzpharma.com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70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OptumRx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EPI-2887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Hegde,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Manu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sara.buerk@jazzpharma.com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49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Centene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EPI-28879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Constantino,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Tawnya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eric.winfree@jazzpharma.com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Capital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Rx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EPI-28898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Britton,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Jeffrey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randall.unzicker@jazzpharma.com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Minnesota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EPI-28920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Dennis,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Erin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randall.unzicker@jazzpharma.com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Centene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Amber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EPI-28981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Kerrigan,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John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eric.winfree@jazzpharma.com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77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OptumRx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EPI-28982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Verma,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Amit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stephanie.harris@jazzpharma.com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48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Denied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EPI-29029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Jain,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Siddharth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joanna.janota@jazzpharma.com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67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Kentucky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EPI-29067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Lee,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David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tracy.scott@jazzpharma.com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California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EPI-29112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Szabo,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Charles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nicholas.firestine@jazzpharma.com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Centene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EPI-29151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Skinner,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Holly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luis.cruz@jazzpharma.com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Florida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Acaria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EPI-29225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Wilfong,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Angus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eric.winfree@jazzpharma.com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UNSPECIFIED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HUB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EPI-2923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Tao,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James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joanna.janota@jazzpharma.com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Humana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EPI-29294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Gallentine,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William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sara.buerk@jazzpharma.com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California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EPI-2938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Martyanov,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Amy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julie.leach@jazzpharma.com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Michigan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EPI-29656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Pan,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Angeline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sara.buerk@jazzpharma.com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Pharmacy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Triage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California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EPI-29709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Clarke,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Dave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nicholas.firestine@jazzpharma.com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Texas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Acaria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EPI-29713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Cafaro,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Deanna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julie.leach@jazzpharma.com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Centene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EPI-29771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Prakash,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Vikram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luis.cruz@jazzpharma.com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Florida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Acaria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EPI-29781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Park,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Yong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chad.dawkins@jazzpharma.com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133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Georgia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EPI-29795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Inglese,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Christopher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3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7" name="Table 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79011935"/>
              </p:ext>
            </p:extLst>
          </p:nvPr>
        </p:nvGraphicFramePr>
        <p:xfrm>
          <a:off x="548640" y="548640"/>
          <a:ext cx="11091672" cy="914400"/>
        </p:xfrm>
        <a:graphic>
          <a:graphicData uri="http://schemas.openxmlformats.org/drawingml/2006/table">
            <a:tbl>
              <a:tblPr/>
              <a:tblGrid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</a:tblGrid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Patient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Prescriber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Field Team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Case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Days Past Refill Due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Status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DNF Outcome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Payer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Pharmacy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Geography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chad.dawkins@jazzpharma.com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EPI-29848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Rieckhoff,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Jessica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julie.leach@jazzpharma.com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OptumRx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EPI-29911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Sparrow,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Natasha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eric.winfree@jazzpharma.com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40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Service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Corporation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(HCSC)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EPI-29955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Chagnon,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Sarah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heather.dant@jazzpharma.com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40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EPI-29980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Nelson,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Julie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randall.unzicker@jazzpharma.com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UNSPECIFIED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HUB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EPI-29997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Jeffreymcgann,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Clovalyn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chad.dawkins@jazzpharma.com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-1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EPI-30026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Taylor,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John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julie.leach@jazzpharma.com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Ohio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EPI-30077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Parent,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Jack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julie.leach@jazzpharma.com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60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Blue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Cross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Blue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Shield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Michigan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EPI-30139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Nelson,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Tarra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shaniya.murphy@jazzpharma.com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45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Department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Defense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EPI-30152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Le,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Scheherazade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sara.buerk@jazzpharma.com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EPI-30232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Mott,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Jared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julie.leach@jazzpharma.com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Michigan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EPI-30290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Kremer,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Kelly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julie.leach@jazzpharma.com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EPI-30312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Barron,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Todd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michael.moll@jazzpharma.com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Denied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EPI-30346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Ziobro,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Julie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julie.leach@jazzpharma.com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Blue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Cross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Blue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Shield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Michigan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EPI-30400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Frazier,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Cherise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shaniya.murphy@jazzpharma.com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EPI-30410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Klatte,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Emily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julie.leach@jazzpharma.com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Centene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EPI-30445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Silvia,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Mary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heather.dant@jazzpharma.com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EPI-30454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Gaitanis,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John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mark.finnegan@jazzpharma.com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Need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ARM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Attention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Blue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Cross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Blue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Shield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Massachusetts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Northeast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EPI-30472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Farhidvash,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Fariba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tracy.scott@jazzpharma.com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Centene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EPI-30475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Sanford,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Joseph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sara.buerk@jazzpharma.com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Elevance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EPI-30491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Prakash,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Vikram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luis.cruz@jazzpharma.com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Florida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Acaria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EPI-30511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Vuong,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Maximilian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eric.winfree@jazzpharma.com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91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UnitedHealthcare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EPI-30585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Mckenzie,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Bryan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tracy.scott@jazzpharma.com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California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EPI-30619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Guo,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Xiaoyan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shaniya.murphy@jazzpharma.com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Humana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EPI-3068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Proud,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Crystal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heather.dant@jazzpharma.com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Elevance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3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8" name="Table 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79011935"/>
              </p:ext>
            </p:extLst>
          </p:nvPr>
        </p:nvGraphicFramePr>
        <p:xfrm>
          <a:off x="548640" y="548640"/>
          <a:ext cx="11091672" cy="914400"/>
        </p:xfrm>
        <a:graphic>
          <a:graphicData uri="http://schemas.openxmlformats.org/drawingml/2006/table">
            <a:tbl>
              <a:tblPr/>
              <a:tblGrid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</a:tblGrid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Patient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Prescriber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Field Team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Case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Days Past Refill Due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Status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DNF Outcome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Payer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Pharmacy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Geography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EPI-3069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Inglese,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Christopher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chad.dawkins@jazzpharma.com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Denied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Florida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Acaria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EPI-30809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Ehrreich,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Steven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sara.buerk@jazzpharma.com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Blue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Shield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California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EPI-3086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MACAFEE,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LAURIE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eric.winfree@jazzpharma.com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Elevance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EPI-30986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Sattar,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Shifteh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tracy.scott@jazzpharma.com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42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Blue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Shield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California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EPI-31019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Gaesser,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Jenna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jerica.eco@jazzpharma.com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53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Northeast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EPI-31036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Jacinto,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Sergio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chad.dawkins@jazzpharma.com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Florida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Acaria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EPI-31157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Fajardo,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Marytery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luis.cruz@jazzpharma.com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67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Florida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Acaria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EPI-31159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Pawar,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Kailash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randall.unzicker@jazzpharma.com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Missouri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Amber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EPI-31201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Wolf,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David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shaniya.murphy@jazzpharma.com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Georgia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EPI-31208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Lie,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Octavian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nicholas.firestine@jazzpharma.com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Texas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Acaria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EPI-31443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Brown,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Candida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sara.buerk@jazzpharma.com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California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EPI-31462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Najm,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Imad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julie.leach@jazzpharma.com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Cancelled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UNSPECIFIED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HUB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EPI-31673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Hallinan,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Barbara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julie.leach@jazzpharma.com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Ohio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EPI-31695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Novara,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Sarah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shaniya.murphy@jazzpharma.com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ALABAMA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MEDICAID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EPI-31852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Chrusciel,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Deepti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stephanie.harris@jazzpharma.com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EPI-31880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Matsumoto,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Joyce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tracy.scott@jazzpharma.com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California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EPI-31913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Abbas,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Shan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julie.leach@jazzpharma.com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Michigan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EPI-32017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Karkar,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Kameel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nicholas.firestine@jazzpharma.com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42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Humana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Acaria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EPI-32043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Lallas,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Matt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luis.cruz@jazzpharma.com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EPI-32161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Bossert,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William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michael.moll@jazzpharma.com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Northeast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EPI-32181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Baig,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Mirza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randall.unzicker@jazzpharma.com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Need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ARM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Attention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EPI-32227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Zempel,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John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stephanie.harris@jazzpharma.com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Centene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Acaria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EPI-32335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Maccotta,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Luigi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stephanie.harris@jazzpharma.com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Missouri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EPI-32356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Pascual,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Franchette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sara.buerk@jazzpharma.com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EPI-32424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Vargas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Collado,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Lines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randall.unzicker@jazzpharma.com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Kansas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3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9" name="Table 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79011935"/>
              </p:ext>
            </p:extLst>
          </p:nvPr>
        </p:nvGraphicFramePr>
        <p:xfrm>
          <a:off x="548640" y="548640"/>
          <a:ext cx="11091672" cy="914400"/>
        </p:xfrm>
        <a:graphic>
          <a:graphicData uri="http://schemas.openxmlformats.org/drawingml/2006/table">
            <a:tbl>
              <a:tblPr/>
              <a:tblGrid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</a:tblGrid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Patient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Prescriber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Field Team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Case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Days Past Refill Due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Status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DNF Outcome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Payer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Pharmacy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Geography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EPI-32448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Libenson,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mark.finnegan@jazzpharma.com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384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UNSPECIFIED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HUB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Northeast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EPI-32453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Hwang,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Jaeho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michael.moll@jazzpharma.com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182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Denied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EPI-32466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Thiele,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Elizabeth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mark.finnegan@jazzpharma.com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49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All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Other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Commercial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EPI-32473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Katyayan,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Akshat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stephanie.harris@jazzpharma.com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-12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Need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ARM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Attention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Department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Veterans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Affairs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EPI-32480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Lankford,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Jeremy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stephanie.harris@jazzpharma.com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Denied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UNSPECIFIED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HUB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EPI-32516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Pearl,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Phillip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mark.finnegan@jazzpharma.com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58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Navitus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Solutions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Lumicera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EPI-32522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CORTINA,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ROSSMARY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luis.cruz@jazzpharma.com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-9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Florida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Acaria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EPI-32546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Winesett,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Steven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chad.dawkins@jazzpharma.com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Centene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EPI-32589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Abe,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Keith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tracy.scott@jazzpharma.com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Need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ARM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Attention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Hawaii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Medical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Service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Association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(HMSA)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EPI-3266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Rao,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Radhakrishna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chad.dawkins@jazzpharma.com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Florida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Acaria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EPI-32667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Koshiya,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Hitoshi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heather.dant@jazzpharma.com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69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Denied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UNSPECIFIED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HUB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EPI-32698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Scarff,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Tiffany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stephanie.harris@jazzpharma.com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Mississippi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EPI-32789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Ibrahim,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Ahmed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heather.dant@jazzpharma.com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EPI-32798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Edelberg,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Helen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michael.moll@jazzpharma.com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102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District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Columbia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EPI-32846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Sandoz,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George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heather.dant@jazzpharma.com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Humana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EPI-32937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Lin,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Andrew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nicholas.firestine@jazzpharma.com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Denied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Elevance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EPI-33028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Vaught,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Barry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heather.dant@jazzpharma.com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-7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EPI-33125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MEHTA,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RAM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jerica.eco@jazzpharma.com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Pennsylvania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Northeast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EPI-33170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TOMLINSON,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RYAN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julie.leach@jazzpharma.com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Michigan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EPI-33197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Yu,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Soka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jerica.eco@jazzpharma.com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UnitedHealthcare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Northeast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EPI-33227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Chavda,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Devraj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eric.winfree@jazzpharma.com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Elevance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EPI-33232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Oviedo,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Sandra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eric.winfree@jazzpharma.com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Nevada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EPI-33278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Sirsi,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Deepa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nicholas.firestine@jazzpharma.com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UnitedHealthcare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EPI-33294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Callow,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julie.leach@jazzpharma.com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Denied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Ohio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EPI-33307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Carson,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Vincent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UNSPECIFIED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HUB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Northeast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39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0" name="Table 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79011935"/>
              </p:ext>
            </p:extLst>
          </p:nvPr>
        </p:nvGraphicFramePr>
        <p:xfrm>
          <a:off x="548640" y="548640"/>
          <a:ext cx="11091672" cy="914400"/>
        </p:xfrm>
        <a:graphic>
          <a:graphicData uri="http://schemas.openxmlformats.org/drawingml/2006/table">
            <a:tbl>
              <a:tblPr/>
              <a:tblGrid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</a:tblGrid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Patient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Prescriber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Field Team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Case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Days Past Refill Due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Status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DNF Outcome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Payer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Pharmacy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Geography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michael.moll@jazzpharma.com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EPI-33323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Naqvi,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Sayed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luis.cruz@jazzpharma.com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Centene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EPI-33405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Arbide,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Zulema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luis.cruz@jazzpharma.com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-8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Florida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Acaria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EPI-33432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Bulmash,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Max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jerica.eco@jazzpharma.com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UNSPECIFIED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HUB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EPI-33572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Walleigh,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Diana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randall.unzicker@jazzpharma.com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Colorado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EPI-33574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Cope,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Jennifer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michael.moll@jazzpharma.com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62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EPI-33651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Bentley,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Rachel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eric.winfree@jazzpharma.com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Idaho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EPI-3366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Czech,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Theresa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randall.unzicker@jazzpharma.com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Iowa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EPI-33752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Krueger,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Darcy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julie.leach@jazzpharma.com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82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EPI-33763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Kelley,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Sarah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michael.moll@jazzpharma.com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-9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Maryland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Acaria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EPI-33807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BARNARD,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DAREJI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stephanie.harris@jazzpharma.com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325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Need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ARM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Attention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Mississippi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EPI-33877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Zillgitt,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Andrew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julie.leach@jazzpharma.com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Humana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EPI-33906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Thompson,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Serena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randall.unzicker@jazzpharma.com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Centene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EPI-33955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Kanner,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Andres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luis.cruz@jazzpharma.com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Centene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HUB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EPI-33962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Conrad,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Susan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joanna.janota@jazzpharma.com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46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Denied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Indiana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EPI-34019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Kossoff,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Eric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michael.moll@jazzpharma.com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EPI-34139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Babcock,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Michael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chad.dawkins@jazzpharma.com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Carolina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EPI-34212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Malik,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Saleem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nicholas.firestine@jazzpharma.com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Texas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EPI-34290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Bingham,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Peter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mark.finnegan@jazzpharma.com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-63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New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York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Northeast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EPI-34291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Lallas,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Matt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luis.cruz@jazzpharma.com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UNSPECIFIED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HUB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EPI-3430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Lallas,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Matt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luis.cruz@jazzpharma.com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40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Denied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EPI-3434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Ashkin,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Kenneth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heather.dant@jazzpharma.com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EPI-34404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Hitchcock,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Tamara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tracy.scott@jazzpharma.com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Kroger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EPI-34435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Galan,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Fernando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chad.dawkins@jazzpharma.com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-9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Florida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Acaria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EPI-34451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Catalfamo,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Amy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randall.unzicker@jazzpharma.com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EPI-34459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Wolf,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Humana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Northeast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40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1" name="Table 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79011935"/>
              </p:ext>
            </p:extLst>
          </p:nvPr>
        </p:nvGraphicFramePr>
        <p:xfrm>
          <a:off x="548640" y="548640"/>
          <a:ext cx="11091672" cy="914400"/>
        </p:xfrm>
        <a:graphic>
          <a:graphicData uri="http://schemas.openxmlformats.org/drawingml/2006/table">
            <a:tbl>
              <a:tblPr/>
              <a:tblGrid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</a:tblGrid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Patient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Prescriber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Field Team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Case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Days Past Refill Due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Status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DNF Outcome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Payer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Pharmacy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Geography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jerica.eco@jazzpharma.com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EPI-34500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Malik,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Manisha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shaniya.murphy@jazzpharma.com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Georgia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EPI-34515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Sen,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Sonali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stephanie.harris@jazzpharma.com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Service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Corporation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(HCSC)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EPI-34544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Roberts,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Colin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sara.buerk@jazzpharma.com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EPI-34587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Eksambe,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Deepali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eric.winfree@jazzpharma.com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Discontinued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UNSPECIFIED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HUB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EPI-34596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Mathisen,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Jan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shaniya.murphy@jazzpharma.com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-8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Blue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Cross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and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Blue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Shield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Association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EPI-34634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Lee,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Chon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heather.dant@jazzpharma.com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Need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ARM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Attention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EPI-34647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Lhatoo,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Samden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stephanie.harris@jazzpharma.com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Denied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Texas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EPI-34730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Fox,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Robert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heather.dant@jazzpharma.com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Blue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Cross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and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Blue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Shield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Association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EPI-34754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Boggs,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Jane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heather.dant@jazzpharma.com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North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Carolina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EPI-34769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Rao,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Lekha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tracy.scott@jazzpharma.com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EPI-34840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Keough,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Karen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nicholas.firestine@jazzpharma.com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47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Texas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EPI-34876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Schnitzler,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Eugene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joanna.janota@jazzpharma.com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Service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Corporation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(HCSC)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EPI-34878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Mcgoldrick,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Patricia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jerica.eco@jazzpharma.com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New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York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Northeast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EPI-34938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Renfroe,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James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chad.dawkins@jazzpharma.com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Denied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EPI-35002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Mills,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Zachary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heather.dant@jazzpharma.com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BlueCross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BlueShield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Tennessee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EPI-35009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Gilani,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Waqas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nicholas.firestine@jazzpharma.com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Texas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Amber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EPI-35071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Popova,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Valentina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jerica.eco@jazzpharma.com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New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York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Northeast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EPI-35117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Keator,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Cynthia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nicholas.firestine@jazzpharma.com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Texas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EPI-35125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Clarke,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Dave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nicholas.firestine@jazzpharma.com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Blue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Cross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and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Blue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Shield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Association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EPI-35146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Pearl,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Phillip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mark.finnegan@jazzpharma.com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EPI-35351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Chiu,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Michelle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mark.finnegan@jazzpharma.com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41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Florida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Acaria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EPI-35380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Muniz,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Maria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luis.cruz@jazzpharma.com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Territory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Puerto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Rico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PR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EPI-354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Steriade,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Claude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jerica.eco@jazzpharma.com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-7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UNSPECIFIED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HUB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EPI-3542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Thibert,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Ronald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mark.finnegan@jazzpharma.com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EPI-35528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Yuliati,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Asri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297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Centene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4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2" name="Table 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79011935"/>
              </p:ext>
            </p:extLst>
          </p:nvPr>
        </p:nvGraphicFramePr>
        <p:xfrm>
          <a:off x="548640" y="548640"/>
          <a:ext cx="11091672" cy="914400"/>
        </p:xfrm>
        <a:graphic>
          <a:graphicData uri="http://schemas.openxmlformats.org/drawingml/2006/table">
            <a:tbl>
              <a:tblPr/>
              <a:tblGrid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</a:tblGrid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Patient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Prescriber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Field Team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Case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Days Past Refill Due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Status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DNF Outcome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Payer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Pharmacy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Geography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tracy.scott@jazzpharma.com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EPI-35541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Torres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Gomez,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Karylsa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nicholas.firestine@jazzpharma.com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Centene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Acaria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EPI-3589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Pascual,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Franchette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sara.buerk@jazzpharma.com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EPI-3596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Katyayan,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Akshat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stephanie.harris@jazzpharma.com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Texas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EPI-3745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Martin,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Christopher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eric.winfree@jazzpharma.com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UnitedHealthcare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EPI-3882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Velez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Ruiz,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Naymee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luis.cruz@jazzpharma.com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-10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Florida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Acaria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EPI-3921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Fenton,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Glen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stephanie.harris@jazzpharma.com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Missouri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Amber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EPI-3927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Bradley,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Lauren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sara.buerk@jazzpharma.com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MedImpact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EPI-4063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Consolini,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Deborah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michael.moll@jazzpharma.com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Pennsylvania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Northeast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EPI-4088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Heinan,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Kristen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heather.dant@jazzpharma.com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Elevance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EPI-4182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Rios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Motta,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Miriam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luis.cruz@jazzpharma.com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73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UNSPECIFIED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HUB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PR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EPI-4184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Hasan,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Syed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shaniya.murphy@jazzpharma.com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213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UnitedHealthcare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EPI-4195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Caldwell,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Bailey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julie.leach@jazzpharma.com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Kentucky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EPI-4216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Farzam,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Farjam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luis.cruz@jazzpharma.com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Florida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Acaria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EPI-4217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Babcock,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Michael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chad.dawkins@jazzpharma.com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Carolina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EPI-4253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Bunker,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Anna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chad.dawkins@jazzpharma.com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Georgia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EPI-4254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Bell,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Michael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sara.buerk@jazzpharma.com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PacificSource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EPI-4255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Eze,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Chigolum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eric.winfree@jazzpharma.com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Texas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Amber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EPI-4260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Vaught,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Barry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heather.dant@jazzpharma.com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143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Discontinued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Virginia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EPI-4266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Sweney,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Matthew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eric.winfree@jazzpharma.com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MotivHealth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HUB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EPI-4300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Jones,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Stephen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stephanie.harris@jazzpharma.com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Navitus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Solutions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Amber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EPI-4427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Elhaj,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Amal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heather.dant@jazzpharma.com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42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Centene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EPI-4432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Aboumatar,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Sami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nicholas.firestine@jazzpharma.com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EPI-4445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Snapp,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Lindsay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shaniya.murphy@jazzpharma.com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Tennessee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EPI-4458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Ku,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Anna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michael.moll@jazzpharma.com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MedImpact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Northeast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EPI-4461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Patel,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Dhruv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48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Denied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UNSPECIFIED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HUB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4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3" name="Table 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79011935"/>
              </p:ext>
            </p:extLst>
          </p:nvPr>
        </p:nvGraphicFramePr>
        <p:xfrm>
          <a:off x="548640" y="548640"/>
          <a:ext cx="11091672" cy="914400"/>
        </p:xfrm>
        <a:graphic>
          <a:graphicData uri="http://schemas.openxmlformats.org/drawingml/2006/table">
            <a:tbl>
              <a:tblPr/>
              <a:tblGrid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</a:tblGrid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Patient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Prescriber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Field Team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Case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Days Past Refill Due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Status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DNF Outcome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Payer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Pharmacy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Geography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julie.leach@jazzpharma.com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EPI-4486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Shrestha,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Gyaneshwar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sara.buerk@jazzpharma.com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Molina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Healthcare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EPI-4570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Tseng,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Philip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tracy.scott@jazzpharma.com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Centene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EPI-4571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Zafar,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Taqi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stephanie.harris@jazzpharma.com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Centene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EPI-4630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Stein,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Alan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tracy.scott@jazzpharma.com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Hawaii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Medical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Service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Association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(HMSA)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EPI-4648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Aboumatar,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Sami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nicholas.firestine@jazzpharma.com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Humana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EPI-4690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Ferreira,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Jose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chad.dawkins@jazzpharma.com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Florida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Acaria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EPI-4714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Vernier,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Eric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chad.dawkins@jazzpharma.com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41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Denied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Florida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Acaria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EPI-4728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Lyons,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Paul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heather.dant@jazzpharma.com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UnitedHealthcare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EPI-473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Randle,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Stephanie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sara.buerk@jazzpharma.com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WASHINGTON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MEDICAID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EPI-4730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Mathisen,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Jan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shaniya.murphy@jazzpharma.com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EPI-4738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Tomko,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Stuart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stephanie.harris@jazzpharma.com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OptumRx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EPI-4817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Squire,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Michaela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heather.dant@jazzpharma.com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UnitedHealthcare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EPI-4853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Hampton,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Cliff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eric.winfree@jazzpharma.com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45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Need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ARM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Attention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Idaho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Amber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EPI-4868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Swartwood,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Shanna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eric.winfree@jazzpharma.com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UNSPECIFIED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HUB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EPI-4872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Currier,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Heidi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randall.unzicker@jazzpharma.com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MEDICA-EXPRESS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EPI-5070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Harmon,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Joseph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eric.winfree@jazzpharma.com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Wyoming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EPI-5101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Eze,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Chigolum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eric.winfree@jazzpharma.com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All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Other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Medicaid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Amber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EPI-5124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Sweney,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Matthew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eric.winfree@jazzpharma.com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MotivHealth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HUB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EPI-5127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Mcgregor,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Amy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shaniya.murphy@jazzpharma.com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63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EPI-5133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Goldman,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Rachel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eric.winfree@jazzpharma.com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Blue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Cross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and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Blue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Shield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Association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EPI-514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Hyslop,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Ann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sara.buerk@jazzpharma.com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208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California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EPI-5147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Kadiwala,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Hamid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nicholas.firestine@jazzpharma.com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UNSPECIFIED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HUB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EPI-5184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Sabau,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Dragos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joanna.janota@jazzpharma.com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Indiana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EPI-5191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Casadonte,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Joseph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chad.dawkins@jazzpharma.com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Florida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Blue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4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4" name="Table 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79011935"/>
              </p:ext>
            </p:extLst>
          </p:nvPr>
        </p:nvGraphicFramePr>
        <p:xfrm>
          <a:off x="548640" y="548640"/>
          <a:ext cx="11091672" cy="914400"/>
        </p:xfrm>
        <a:graphic>
          <a:graphicData uri="http://schemas.openxmlformats.org/drawingml/2006/table">
            <a:tbl>
              <a:tblPr/>
              <a:tblGrid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</a:tblGrid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Patient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Prescriber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Field Team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Case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Days Past Refill Due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Status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DNF Outcome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Payer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Pharmacy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Geography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EPI-5207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SUKKARIEH,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NICOLE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sara.buerk@jazzpharma.com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Service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Corporation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(HCSC)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EPI-5224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Von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Allmen,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Gretchen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stephanie.harris@jazzpharma.com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EPI-5277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Naqvi,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Sayed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luis.cruz@jazzpharma.com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Florida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Acaria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EPI-5280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Gieron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Korthals,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Maria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chad.dawkins@jazzpharma.com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Denied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Florida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Acaria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EPI-5296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Atkinson,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Marie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eric.winfree@jazzpharma.com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Humana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EPI-5330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Deng,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Doris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tracy.scott@jazzpharma.com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Centene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EPI-5343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CASTRO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CHANDRI,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MIRIAM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luis.cruz@jazzpharma.com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Territory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Puerto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Rico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PR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EPI-5402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Tanaka,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Aileen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tracy.scott@jazzpharma.com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Hawaii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Medical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Service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Association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(HMSA)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EPI-5421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Mihaylova,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Temenuzhka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julie.leach@jazzpharma.com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Michigan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EPI-5426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Bello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Espinosa,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Luis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luis.cruz@jazzpharma.com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-9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Florida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Acaria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EPI-5448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Shabbir,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Nadeem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eric.winfree@jazzpharma.com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Blue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Cross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Blue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Shield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Arizona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EPI-5490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Heinan,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Kristen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heather.dant@jazzpharma.com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Blue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Cross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and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Blue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Shield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Association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EPI-5493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Zemina,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Kristen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chad.dawkins@jazzpharma.com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Florida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Acaria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EPI-5529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Starnes,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Donnie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randall.unzicker@jazzpharma.com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UnitedHealthcare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EPI-5556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Weisenberg,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Judith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stephanie.harris@jazzpharma.com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Service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Corporation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(HCSC)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EPI-5584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Mandava,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Sundeep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stephanie.harris@jazzpharma.com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EPI-5591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Kerrick,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Jonathan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shaniya.murphy@jazzpharma.com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One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Alliance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Acaria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EPI-5624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Gauthier,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Brittany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jerica.eco@jazzpharma.com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EPI-5658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Edmonds,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Benjamin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sara.buerk@jazzpharma.com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Denied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Centene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EPI-566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Rodziyevska,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Olga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stephanie.harris@jazzpharma.com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Service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Corporation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(HCSC)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EPI-5776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Kaulas,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Himanshu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stephanie.harris@jazzpharma.com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Denied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UnitedHealthcare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Lumicera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EPI-5836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Griffith,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Jennifer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stephanie.harris@jazzpharma.com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UnitedHealthcare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EPI-5845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Lehman,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Rebecca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chad.dawkins@jazzpharma.com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Humana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EPI-5850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Hong,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William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mark.finnegan@jazzpharma.com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Elevance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Northeast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EPI-590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Nagesh,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Deepti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210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Denied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4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5" name="Table 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79011935"/>
              </p:ext>
            </p:extLst>
          </p:nvPr>
        </p:nvGraphicFramePr>
        <p:xfrm>
          <a:off x="548640" y="548640"/>
          <a:ext cx="11091672" cy="914400"/>
        </p:xfrm>
        <a:graphic>
          <a:graphicData uri="http://schemas.openxmlformats.org/drawingml/2006/table">
            <a:tbl>
              <a:tblPr/>
              <a:tblGrid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</a:tblGrid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Patient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Prescriber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Field Team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Case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Days Past Refill Due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Status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DNF Outcome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Payer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Pharmacy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Geography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randall.unzicker@jazzpharma.com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EPI-5912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CRUTCHER,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ROBERT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chad.dawkins@jazzpharma.com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Florida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Blue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EPI-5919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Mathisen,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Jan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shaniya.murphy@jazzpharma.com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BCBS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ALABAMA-PRIME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THERAPEUTICS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EPI-5925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Mauney,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Weldon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chad.dawkins@jazzpharma.com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172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EPI-5965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Kokash,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Fares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nicholas.firestine@jazzpharma.com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56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Texas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EPI-5985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Charria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Ortiz,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Gustavo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nicholas.firestine@jazzpharma.com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Texas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EPI-6011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Ess,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Kevin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randall.unzicker@jazzpharma.com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EPI-6031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Kaulas,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Himanshu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stephanie.harris@jazzpharma.com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Missouri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EPI-6057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Frank,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Jeffrey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sara.buerk@jazzpharma.com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SAMARITAN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SERVICES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EPI-6070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Chavda,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Devraj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eric.winfree@jazzpharma.com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46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Denied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EPI-6088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Maxwell,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Kathleen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julie.leach@jazzpharma.com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Centene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Acaria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EPI-61449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Frank,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Jeffrey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sara.buerk@jazzpharma.com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Cambia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Solutions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EPI-61453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Vo,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Quynh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shaniya.murphy@jazzpharma.com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BCBS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ALABAMA-PRIME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THERAPEUTICS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EPI-615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Ryther,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Robin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stephanie.harris@jazzpharma.com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Missouri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EPI-6159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Winesett,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Steven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chad.dawkins@jazzpharma.com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Denied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Government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Employees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Association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(GEHA)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EPI-61782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Mahmood,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Naznin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julie.leach@jazzpharma.com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Michigan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EPI-61885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Barfchin,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Sahar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michael.moll@jazzpharma.com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UnitedHealthcare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Northeast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EPI-6199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Keough,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Karen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nicholas.firestine@jazzpharma.com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Centene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Acaria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EPI-62293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Bansal,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Lalit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randall.unzicker@jazzpharma.com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Blue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Cross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and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Blue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Shield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Kansas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City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EPI-62335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Smith,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Douglas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randall.unzicker@jazzpharma.com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Prime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Therapeutics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EPI-6235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Lerman,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Andrew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luis.cruz@jazzpharma.com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Centene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EPI-62387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STAREN,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MICHAEL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eric.winfree@jazzpharma.com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53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UNSPECIFIED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HUB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EPI-62398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Mohamed,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Ismail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shaniya.murphy@jazzpharma.com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Need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ARM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Attention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ALABAMA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MEDICAID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EPI-62429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Bansal,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Lalit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randall.unzicker@jazzpharma.com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EPI-62536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Crudele,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Angela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shaniya.murphy@jazzpharma.com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Cigna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4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6" name="Table 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79011935"/>
              </p:ext>
            </p:extLst>
          </p:nvPr>
        </p:nvGraphicFramePr>
        <p:xfrm>
          <a:off x="548640" y="548640"/>
          <a:ext cx="11091672" cy="914400"/>
        </p:xfrm>
        <a:graphic>
          <a:graphicData uri="http://schemas.openxmlformats.org/drawingml/2006/table">
            <a:tbl>
              <a:tblPr/>
              <a:tblGrid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</a:tblGrid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Patient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Prescriber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Field Team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Case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Days Past Refill Due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Status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DNF Outcome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Payer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Pharmacy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Geography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EPI-6258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Weisenberg,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Judith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stephanie.harris@jazzpharma.com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MERIDIAN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HEALTHCHOICE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IL-ESI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EPI-62672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Aquino,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Karen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heather.dant@jazzpharma.com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40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Denied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North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Carolina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EPI-62708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Benard,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Shawna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tracy.scott@jazzpharma.com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Blue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Shield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California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EPI-62754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Rieckhoff,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Jessica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julie.leach@jazzpharma.com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Need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ARM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Attention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Blue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Cross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Blue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Shield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Michigan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EPI-6295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Chen,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Linda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tracy.scott@jazzpharma.com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Denied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Centene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Acaria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EPI-62967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Surgan,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Victoria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michael.moll@jazzpharma.com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-1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Need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ARM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Attention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Horizon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Blue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Cross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Blue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Shield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New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Jersey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Northeast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EPI-63004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Weatherspoon,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Sarah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shaniya.murphy@jazzpharma.com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Centene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EPI-6302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Mihaylova,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Temenuzhka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julie.leach@jazzpharma.com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41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Need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ARM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Attention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Michigan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EPI-63025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Digiacomo,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Caroline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shaniya.murphy@jazzpharma.com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Georgia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EPI-63049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VIZCARRA,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ALONDRA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eric.winfree@jazzpharma.com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156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All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Other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Medicaid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EPI-63242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Roberts,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Kelly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luis.cruz@jazzpharma.com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SUNSHINE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PLAN-ESI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EPI-6344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Asconape,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Jorge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joanna.janota@jazzpharma.com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Service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Corporation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(HCSC)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EPI-6374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Benbadis,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Selim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chad.dawkins@jazzpharma.com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EPI-6380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Dhillon,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Parmpreet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jerica.eco@jazzpharma.com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Northeast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EPI-63813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Kothawala,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Murtuza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luis.cruz@jazzpharma.com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Blue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Cross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and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Blue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Shield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Alabama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EPI-63890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Thiel,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Clara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stephanie.harris@jazzpharma.com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Centene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EPI-63905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Noto,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James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michael.moll@jazzpharma.com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MEDCO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HOME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DELIVERY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EPI-63947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Sahaya,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Kinshuk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randall.unzicker@jazzpharma.com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Centene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EPI-63985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Mcguinness,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Ian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shaniya.murphy@jazzpharma.com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Need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ARM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Attention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ALABAMA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MEDICAID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EPI-64105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Bradley,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Lauren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sara.buerk@jazzpharma.com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MedImpact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EPI-6416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Ellis,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Colin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michael.moll@jazzpharma.com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Pennsylvania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Northeast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EPI-64183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Pollock,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Shannon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joanna.janota@jazzpharma.com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OptumRx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EPI-64216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Poppell,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Karissa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tracy.scott@jazzpharma.com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68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UnitedHealthcare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EPI-64318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Bieber,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David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joanna.janota@jazzpharma.com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Need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ARM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Attention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Service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Corporation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(HCSC)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EPI-6445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Cornes,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Susannah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UNSPECIFIED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HUB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4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7" name="Table 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79011935"/>
              </p:ext>
            </p:extLst>
          </p:nvPr>
        </p:nvGraphicFramePr>
        <p:xfrm>
          <a:off x="548640" y="548640"/>
          <a:ext cx="11091672" cy="914400"/>
        </p:xfrm>
        <a:graphic>
          <a:graphicData uri="http://schemas.openxmlformats.org/drawingml/2006/table">
            <a:tbl>
              <a:tblPr/>
              <a:tblGrid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</a:tblGrid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Patient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Prescriber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Field Team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Case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Days Past Refill Due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Status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DNF Outcome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Payer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Pharmacy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Geography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sara.buerk@jazzpharma.com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EPI-64578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Hodoba,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Nathaniel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sara.buerk@jazzpharma.com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Need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ARM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Attention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California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EPI-64904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Walters,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William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stephanie.harris@jazzpharma.com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Arkansas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EPI-65090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Gonzalez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Giraldo,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Ernesto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sara.buerk@jazzpharma.com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102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Denied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LucyRx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EPI-6514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Tsuchida,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Tammy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michael.moll@jazzpharma.com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Elevance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EPI-65223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Frederick,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Aliya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tracy.scott@jazzpharma.com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Department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Defense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EPI-65351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Mckenzie,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Bryan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tracy.scott@jazzpharma.com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44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California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EPI-6539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Sabau,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Dragos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joanna.janota@jazzpharma.com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Humana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EPI-65477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Jaskiewicz,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Jennifer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heather.dant@jazzpharma.com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EPI-65558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Gerard,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Elizabeth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joanna.janota@jazzpharma.com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42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Capital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Rx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EPI-65575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Hitchcock,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Tamara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tracy.scott@jazzpharma.com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Centene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EPI-65881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Shoup,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Jaime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stephanie.harris@jazzpharma.com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Elevance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EPI-6590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King,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Tricia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luis.cruz@jazzpharma.com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UnitedHealthcare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EPI-6593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Leary,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Linda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nicholas.firestine@jazzpharma.com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Texas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EPI-66059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Foradada,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Jose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chad.dawkins@jazzpharma.com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117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Florida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EPI-66072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Holt,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Philip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shaniya.murphy@jazzpharma.com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EPI-66121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Garciasosa,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Rebecca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joanna.janota@jazzpharma.com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79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Need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ARM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Attention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Illinois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EPI-66241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King,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Tricia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luis.cruz@jazzpharma.com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136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Centene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EPI-66289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Berger,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Bryan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julie.leach@jazzpharma.com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44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Need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ARM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Attention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Ohio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EPI-66405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Timbie,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Clare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sara.buerk@jazzpharma.com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OptumRx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EPI-66614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LOPEZ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CHAVEZ,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ABRAHAM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sara.buerk@jazzpharma.com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Denied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California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EPI-66616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Carson,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Ross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jerica.eco@jazzpharma.com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Need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ARM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Attention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Highmark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Northeast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EPI-66744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Smith,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Douglas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randall.unzicker@jazzpharma.com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Prime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Therapeutics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EPI-66751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Bangalore,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Samir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shaniya.murphy@jazzpharma.com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BlueCross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BlueShield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Tennessee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EPI-66837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Yadov,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Irina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michael.moll@jazzpharma.com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EPI-66868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Mathisen,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Jan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Need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ARM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Attention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ALABAMA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MEDICAID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4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8" name="Table 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79011935"/>
              </p:ext>
            </p:extLst>
          </p:nvPr>
        </p:nvGraphicFramePr>
        <p:xfrm>
          <a:off x="548640" y="548640"/>
          <a:ext cx="11091672" cy="914400"/>
        </p:xfrm>
        <a:graphic>
          <a:graphicData uri="http://schemas.openxmlformats.org/drawingml/2006/table">
            <a:tbl>
              <a:tblPr/>
              <a:tblGrid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</a:tblGrid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Patient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Prescriber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Field Team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Case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Days Past Refill Due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Status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DNF Outcome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Payer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Pharmacy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Geography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shaniya.murphy@jazzpharma.com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EPI-669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Saneto,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Russ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sara.buerk@jazzpharma.com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40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Uniform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Medical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Plan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Lumicera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EPI-66957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Olejniczak,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Piotr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stephanie.harris@jazzpharma.com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Need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ARM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Attention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Humana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EPI-67178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Noe,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Katherine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eric.winfree@jazzpharma.com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UnitedHealthcare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EPI-676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Hernandez,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Angel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chad.dawkins@jazzpharma.com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Florida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EPI-6769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Masters,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Laura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nicholas.firestine@jazzpharma.com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Cancelled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EPI-67725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Harsanyijilling,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Krisztina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chad.dawkins@jazzpharma.com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EPI-67859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Garner,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Jessica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sara.buerk@jazzpharma.com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Denied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California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EPI-67871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Graber,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Kevin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sara.buerk@jazzpharma.com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-3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Need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ARM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Attention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Centene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EPI-68304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Silva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Colon,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Milagros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sara.buerk@jazzpharma.com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Denied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California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EPI-68363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Kney,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Adam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joanna.janota@jazzpharma.com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-7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EPI-6837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Pearl,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Phillip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mark.finnegan@jazzpharma.com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Massachusetts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Northeast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EPI-68520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Madhavan,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Deepak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randall.unzicker@jazzpharma.com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Blue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Cross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and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Blue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Shield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Nebraska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EPI-68561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Sazgar,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Mona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tracy.scott@jazzpharma.com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Denied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UNSPECIFIED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HUB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EPI-68573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Smith,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Hayley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eric.winfree@jazzpharma.com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EPI-68653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Lim,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Kueicheng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michael.moll@jazzpharma.com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154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Need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ARM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Attention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Independence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Blue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Cross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Northeast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EPI-68954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Bieber,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David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joanna.janota@jazzpharma.com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46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Need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ARM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Attention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Service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Corporation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(HCSC)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EPI-68984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Zadeh,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Wendy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randall.unzicker@jazzpharma.com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40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Elevance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EPI-69062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Koshiya,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Hitoshi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heather.dant@jazzpharma.com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EPI-69181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MARTINEZ,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SHARON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sara.buerk@jazzpharma.com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48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California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EPI-69182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Singhal,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Nilika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sara.buerk@jazzpharma.com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64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Need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ARM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Attention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California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EPI-69324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Janet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tracy.scott@jazzpharma.com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-8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California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EPI-69521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Lockhart,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Roxanne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shaniya.murphy@jazzpharma.com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ALABAMA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MEDICAID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EPI-69571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Agarwal,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Nitin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randall.unzicker@jazzpharma.com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Minnesota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EPI-6961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Ahn,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Samuel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tracy.scott@jazzpharma.com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EPI-69672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Voci,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James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116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OptumRx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4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9" name="Table 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79011935"/>
              </p:ext>
            </p:extLst>
          </p:nvPr>
        </p:nvGraphicFramePr>
        <p:xfrm>
          <a:off x="548640" y="548640"/>
          <a:ext cx="11091672" cy="914400"/>
        </p:xfrm>
        <a:graphic>
          <a:graphicData uri="http://schemas.openxmlformats.org/drawingml/2006/table">
            <a:tbl>
              <a:tblPr/>
              <a:tblGrid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</a:tblGrid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Patient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Prescriber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Field Team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Case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Days Past Refill Due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Status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DNF Outcome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Payer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Pharmacy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Geography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joanna.janota@jazzpharma.com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EPI-6970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Riba,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Aliza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tracy.scott@jazzpharma.com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BLUE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CROSS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BLUE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SHIELD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NORTH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CAROLINA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EPI-6975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Lallas,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Matt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luis.cruz@jazzpharma.com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Florida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Acaria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EPI-69817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Bolen,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Joel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chad.dawkins@jazzpharma.com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55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Discontinued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ALABAMA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MEDICAID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EPI-69904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Ladha,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Harshad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stephanie.harris@jazzpharma.com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Arkansas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EPI-6994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Takeoka,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Masanori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mark.finnegan@jazzpharma.com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40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Amwins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Rx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Northeast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EPI-70066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Steed,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Nicholas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julie.leach@jazzpharma.com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All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Other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Assistance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Program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Amber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EPI-70136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Lyons,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Paul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heather.dant@jazzpharma.com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73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EPI-70497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Riggins,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Robin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stephanie.harris@jazzpharma.com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EPI-70606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Keramatian,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Kasra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randall.unzicker@jazzpharma.com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Missouri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EPI-70674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Parikh,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Prachi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heather.dant@jazzpharma.com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EPI-70778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Lee,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Jong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Woo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mark.finnegan@jazzpharma.com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Centene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Northeast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EPI-70817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Welch,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Kathryn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randall.unzicker@jazzpharma.com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Need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ARM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Attention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Kansas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EPI-71120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Bell,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William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heather.dant@jazzpharma.com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EPI-7116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Sadeghi,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Reza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nicholas.firestine@jazzpharma.com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Denied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UNSPECIFIED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HUB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EPI-71469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Almodovar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Suarez,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Jorge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stephanie.harris@jazzpharma.com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Discontinued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UnitedHealthcare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EPI-71511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Reznik,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Kiersten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jerica.eco@jazzpharma.com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EPI-7153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Malik,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Saleem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nicholas.firestine@jazzpharma.com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Texas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EPI-7183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Gerard,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Elizabeth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joanna.janota@jazzpharma.com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Service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Corporation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(HCSC)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EPI-7186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Asjad,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Subhana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julie.leach@jazzpharma.com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Humana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Northeast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EPI-71886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Javarayee,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Pradeep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joanna.janota@jazzpharma.com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EPI-71992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Zhang,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Guojun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shaniya.murphy@jazzpharma.com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Georgia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EPI-72138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Lalor,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Kathryn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shaniya.murphy@jazzpharma.com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Need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ARM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Attention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ALABAMA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MEDICAID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EPI-72189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Scarff,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Tiffany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stephanie.harris@jazzpharma.com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42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Need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ARM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Attention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Mississippi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EPI-7219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Taraschenko,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Olha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randall.unzicker@jazzpharma.com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UnitedHealthcare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49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0" name="Table 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79011935"/>
              </p:ext>
            </p:extLst>
          </p:nvPr>
        </p:nvGraphicFramePr>
        <p:xfrm>
          <a:off x="548640" y="548640"/>
          <a:ext cx="11091672" cy="914400"/>
        </p:xfrm>
        <a:graphic>
          <a:graphicData uri="http://schemas.openxmlformats.org/drawingml/2006/table">
            <a:tbl>
              <a:tblPr/>
              <a:tblGrid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</a:tblGrid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Patient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Prescriber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Field Team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Case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Days Past Refill Due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Status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DNF Outcome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Payer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Pharmacy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Geography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EPI-72277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Basha,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Maysaa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julie.leach@jazzpharma.com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Blue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Cross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Blue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Shield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Michigan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EPI-7235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Murphy,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Mallory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shaniya.murphy@jazzpharma.com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MEDICAID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ALABAMA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EPI-7244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Linfesty,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Daniel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sara.buerk@jazzpharma.com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Blue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Shield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California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EPI-72669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Rafiuddin,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Asfi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michael.moll@jazzpharma.com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Need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ARM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Attention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Horizon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Blue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Cross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Blue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Shield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New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Jersey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Northeast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EPI-72714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Bradni,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Sharon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sara.buerk@jazzpharma.com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Centene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EPI-72735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Chun,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Deborah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joanna.janota@jazzpharma.com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Need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ARM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Attention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Cook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Childrens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EPI-72742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Mohamed,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Ismail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shaniya.murphy@jazzpharma.com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76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Employer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Plans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EPI-72875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Mitaszka,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Katie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tracy.scott@jazzpharma.com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Need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ARM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Attention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GoodRx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EPI-73104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Mnatsakanyan,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Lilit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tracy.scott@jazzpharma.com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52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CalOptima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EPI-73112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French,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Kristian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eric.winfree@jazzpharma.com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Need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ARM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Attention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Wyoming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EPI-73140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King,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Alexa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joanna.janota@jazzpharma.com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Need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ARM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Attention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EPI-73156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Nahouraii,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Robert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heather.dant@jazzpharma.com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North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Carolina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EPI-73464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Bradley,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Lauren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sara.buerk@jazzpharma.com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California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EPI-73496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Fisher,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Robert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sara.buerk@jazzpharma.com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97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Service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Corporation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(HCSC)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EPI-73591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Holt,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Philip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shaniya.murphy@jazzpharma.com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Centene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EPI-73596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Singhal,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Nilika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sara.buerk@jazzpharma.com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EPI-7370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Fields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Rookard,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Alison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chad.dawkins@jazzpharma.com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UNSPECIFIED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HUB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EPI-73756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Doonan,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Nicole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randall.unzicker@jazzpharma.com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MEDICA-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EPI-73859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Singhal,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Nilika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sara.buerk@jazzpharma.com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EPI-74040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Narawong,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Duangchai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randall.unzicker@jazzpharma.com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EPI-7407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Rickard,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Mary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randall.unzicker@jazzpharma.com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BlueCross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BlueShield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Carolina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Amber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EPI-7409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Friedlander,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Laura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randall.unzicker@jazzpharma.com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Colorado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EPI-7416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Sheikh,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Shabina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heather.dant@jazzpharma.com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OptumRx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EPI-74187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Montalvo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Perero,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Mayra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mark.finnegan@jazzpharma.com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Need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ARM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Attention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Florida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EPI-74378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Bebin,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Elizabeth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Blue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Cross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and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Blue 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50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1" name="Table 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79011935"/>
              </p:ext>
            </p:extLst>
          </p:nvPr>
        </p:nvGraphicFramePr>
        <p:xfrm>
          <a:off x="548640" y="548640"/>
          <a:ext cx="11091672" cy="914400"/>
        </p:xfrm>
        <a:graphic>
          <a:graphicData uri="http://schemas.openxmlformats.org/drawingml/2006/table">
            <a:tbl>
              <a:tblPr/>
              <a:tblGrid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</a:tblGrid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Patient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Prescriber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Field Team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Case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Days Past Refill Due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Status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DNF Outcome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Payer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Pharmacy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Geography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shaniya.murphy@jazzpharma.com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Shield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Alabama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EPI-7446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Jarrar,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Randa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eric.winfree@jazzpharma.com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Southwest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Catholic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Network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EPI-74585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Graber,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Kevin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sara.buerk@jazzpharma.com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Centene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EPI-74603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Jones,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Kayce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heather.dant@jazzpharma.com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-20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North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Carolina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EPI-74857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Fountain,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Nathan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heather.dant@jazzpharma.com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61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Need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ARM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Attention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UnitedHealthcare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EPI-75100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Ladha,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Harshad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stephanie.harris@jazzpharma.com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EPI-75272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Olejniczak,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Piotr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stephanie.harris@jazzpharma.com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41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Discontinued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Need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ARM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Attention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Louisiana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EPI-75277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Galan,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Fernando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chad.dawkins@jazzpharma.com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52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Georgia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EPI-753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Rickard,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Mary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randall.unzicker@jazzpharma.com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Centene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Amber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EPI-75315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Bell,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Kathryn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heather.dant@jazzpharma.com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Need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ARM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Attention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North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Carolina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EPI-75850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Vo,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Quynh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shaniya.murphy@jazzpharma.com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EPI-75914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Carroll,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Priscilla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nicholas.firestine@jazzpharma.com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OptumRx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EPI-75934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Voci,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James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joanna.janota@jazzpharma.com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70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Service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Corporation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(HCSC)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EPI-75938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Fountain,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Nathan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heather.dant@jazzpharma.com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Humana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EPI-75960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Livingston,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Timothy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shaniya.murphy@jazzpharma.com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Department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Defense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EPI-7606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Sahagian,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Michelle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tracy.scott@jazzpharma.com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Cigna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EPI-76174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ELKHOURY,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HABIB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joanna.janota@jazzpharma.com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-10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Denied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EPI-76274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Ladha,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Harshad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stephanie.harris@jazzpharma.com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Arkansas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EPI-76300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Punnoose,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Deepa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mark.finnegan@jazzpharma.com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199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Centene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Northeast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EPI-76343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Combe,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Shari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eric.winfree@jazzpharma.com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40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Utah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EPI-76361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Grijalvo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Perez,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Ana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sara.buerk@jazzpharma.com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California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EPI-76453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Krulisky,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Kathryn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eric.winfree@jazzpharma.com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119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Denied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OptumRx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EPI-76497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Jung,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Brian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tracy.scott@jazzpharma.com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Need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ARM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Attention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California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EPI-76529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Han,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Helen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michael.moll@jazzpharma.com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Need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ARM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Attention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UnitedHealthcare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Northeast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EPI-76672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Nadkarni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Desai,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Divya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joanna.janota@jazzpharma.com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EPI-76761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Kennedy,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Jeffrey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California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5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2" name="Table 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79011935"/>
              </p:ext>
            </p:extLst>
          </p:nvPr>
        </p:nvGraphicFramePr>
        <p:xfrm>
          <a:off x="548640" y="548640"/>
          <a:ext cx="11091672" cy="914400"/>
        </p:xfrm>
        <a:graphic>
          <a:graphicData uri="http://schemas.openxmlformats.org/drawingml/2006/table">
            <a:tbl>
              <a:tblPr/>
              <a:tblGrid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</a:tblGrid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Patient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Prescriber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Field Team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Case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Days Past Refill Due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Status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DNF Outcome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Payer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Pharmacy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Geography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sara.buerk@jazzpharma.com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EPI-76794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James,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Lauren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joanna.janota@jazzpharma.com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54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EPI-768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Miller,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Lewis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heather.dant@jazzpharma.com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Discontinued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Georgia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EPI-76856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Marawar,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Rohit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julie.leach@jazzpharma.com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OptumRx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EPI-7692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Mirsattari,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Seyed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chad.dawkins@jazzpharma.com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OptumRx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EPI-76965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Sullivan,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Joseph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sara.buerk@jazzpharma.com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California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EPI-76982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Mckenzie,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Bryan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tracy.scott@jazzpharma.com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-1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California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EPI-77032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Freedman,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Daniel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nicholas.firestine@jazzpharma.com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Denied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UnitedHealthcare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HUB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EPI-77045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Swader,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Sheri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shaniya.murphy@jazzpharma.com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ALABAMA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MEDICAID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EPI-7715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Gardner,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Marisa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sara.buerk@jazzpharma.com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OptumRx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EPI-77227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Fesler,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Jessica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julie.leach@jazzpharma.com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EPI-77245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Clemmons,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Richard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randall.unzicker@jazzpharma.com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Centene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EPI-77260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Sangha,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Amandeep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heather.dant@jazzpharma.com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Need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ARM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Attention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Humana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EPI-77270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Durkin,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Christina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julie.leach@jazzpharma.com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Michigan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EPI-77289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Silvia,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Mary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heather.dant@jazzpharma.com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EPI-77310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Shoup,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Jaime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stephanie.harris@jazzpharma.com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59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CARESOURCE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INDIANA-EXPRESS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EPI-77339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Burdette,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David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julie.leach@jazzpharma.com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Centene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EPI-77580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Rodriguezgomez,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Gerardo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eric.winfree@jazzpharma.com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Need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ARM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Attention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Centene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EPI-77610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Conravey,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Allison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stephanie.harris@jazzpharma.com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Need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ARM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Attention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Louisiana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EPI-77651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Blum,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Andrew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mark.finnegan@jazzpharma.com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Blue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Cross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Blue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Shield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Rhode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Island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Northeast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EPI-77698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Constantinou,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Jules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julie.leach@jazzpharma.com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OptumRx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EPI-77793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Pawar,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Kailash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randall.unzicker@jazzpharma.com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Department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Defense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EPI-77801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Dixon,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Stephanie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tracy.scott@jazzpharma.com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California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EPI-7791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Riggeal,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Bryan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chad.dawkins@jazzpharma.com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UnitedHealthcare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EPI-77963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Rodriguez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Rosario,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Lina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luis.cruz@jazzpharma.com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Need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ARM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Attention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WELLCARE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CNC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MEDICARE-ESI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5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3" name="Table 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79011935"/>
              </p:ext>
            </p:extLst>
          </p:nvPr>
        </p:nvGraphicFramePr>
        <p:xfrm>
          <a:off x="548640" y="548640"/>
          <a:ext cx="11091672" cy="914400"/>
        </p:xfrm>
        <a:graphic>
          <a:graphicData uri="http://schemas.openxmlformats.org/drawingml/2006/table">
            <a:tbl>
              <a:tblPr/>
              <a:tblGrid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</a:tblGrid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Patient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Prescriber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Field Team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Case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Days Past Refill Due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Status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DNF Outcome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Payer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Pharmacy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Geography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EPI-78047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Talcott,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Bradford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eric.winfree@jazzpharma.com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EPI-7821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Yu,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Soka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jerica.eco@jazzpharma.com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73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OptumRx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Northeast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EPI-78439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Hainlen,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Meagan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nicholas.firestine@jazzpharma.com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Texas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EPI-78566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Gove,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Michelle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julie.leach@jazzpharma.com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Michigan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EPI-78594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Kankirawatana,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Pongkiat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shaniya.murphy@jazzpharma.com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Need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ARM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Attention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MedImpact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EPI-78596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Ryan,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Nicole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michael.moll@jazzpharma.com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Delaware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EPI-7868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Fernandez,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Enrique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chad.dawkins@jazzpharma.com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52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Georgia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EPI-78705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Roque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Baz,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Amarilys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luis.cruz@jazzpharma.com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Centene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EPI-7884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Pita,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Ignacio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luis.cruz@jazzpharma.com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Medical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System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(MCS)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PR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EPI-78914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Sharma,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Dhiraj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michael.moll@jazzpharma.com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Blue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Cross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and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Blue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Shield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Kansas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City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EPI-78963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Hainlen,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Meagan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nicholas.firestine@jazzpharma.com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Service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Corporation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(HCSC)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EPI-79031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Garcia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Pierce,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Joanna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joanna.janota@jazzpharma.com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EPI-79143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Sullivan,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Joseph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sara.buerk@jazzpharma.com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104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Need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ARM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Attention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California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EPI-7922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Pawar,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Kailash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randall.unzicker@jazzpharma.com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Blue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Cross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and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Blue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Shield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Kansas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EPI-79223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Robinson,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Rhonda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stephanie.harris@jazzpharma.com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UnitedHealthcare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EPI-79358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Clark,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Daniel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julie.leach@jazzpharma.com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Kentucky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EPI-79384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Ladha,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Harshad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stephanie.harris@jazzpharma.com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EPI-79417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Gutu,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Stephen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randall.unzicker@jazzpharma.com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52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Denied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Service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Corporation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(HCSC)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EPI-79449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Arroyo,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Monica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luis.cruz@jazzpharma.com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Florida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EPI-795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Stredny,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Coral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mark.finnegan@jazzpharma.com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Northeast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EPI-79594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Gonzalez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Giraldo,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Ernesto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sara.buerk@jazzpharma.com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342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Denied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EPI-79652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Jordan,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Brittany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tracy.scott@jazzpharma.com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California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EPI-7972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Jeffreymcgann,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Clovalyn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chad.dawkins@jazzpharma.com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EPI-7973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Schrader,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Lara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tracy.scott@jazzpharma.com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45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Humana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EPI-79779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Iorio,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Dylan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sara.buerk@jazzpharma.com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California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5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4" name="Table 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79011935"/>
              </p:ext>
            </p:extLst>
          </p:nvPr>
        </p:nvGraphicFramePr>
        <p:xfrm>
          <a:off x="548640" y="548640"/>
          <a:ext cx="11091672" cy="914400"/>
        </p:xfrm>
        <a:graphic>
          <a:graphicData uri="http://schemas.openxmlformats.org/drawingml/2006/table">
            <a:tbl>
              <a:tblPr/>
              <a:tblGrid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</a:tblGrid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Patient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Prescriber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Field Team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Case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Days Past Refill Due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Status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DNF Outcome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Payer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Pharmacy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Geography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EPI-80000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Rathore,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Jaivir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luis.cruz@jazzpharma.com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EPI-80048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Malone,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Toya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eric.winfree@jazzpharma.com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RxBenefits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EPI-80060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Rivas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Coppola,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Marianna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shaniya.murphy@jazzpharma.com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Summit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Community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EPI-8012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Zafar,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Muhammad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heather.dant@jazzpharma.com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BLUE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CROSS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BLUE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SHIELD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NORTH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CAROLINA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EPI-8035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Peters,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Walter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chad.dawkins@jazzpharma.com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Independence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Blue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Cross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EPI-8050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Batson,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Kristen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luis.cruz@jazzpharma.com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Florida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EPI-8056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Gupta,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Ajay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julie.leach@jazzpharma.com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Denied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OptumRx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EPI-8063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Gallentine,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William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sara.buerk@jazzpharma.com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Blue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Shield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California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EPI-8064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Dabas,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Puneet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eric.winfree@jazzpharma.com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47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UnitedHealthcare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EPI-8274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Miller,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Jessie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luis.cruz@jazzpharma.com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Florida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Acaria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EPI-8303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Patel,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Nitin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stephanie.harris@jazzpharma.com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62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EPI-8305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Cappell,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Joshua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michael.moll@jazzpharma.com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Northeast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EPI-8306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Kim,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Hyunmi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sara.buerk@jazzpharma.com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49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Elevance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EPI-8314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Mcgoldrick,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Patricia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jerica.eco@jazzpharma.com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RxBenefits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Northeast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EPI-8340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Bojko,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Aviva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michael.moll@jazzpharma.com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Capital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Blue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Cross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EPI-8344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Abram,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Harry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chad.dawkins@jazzpharma.com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40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EPI-835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Costas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Encarnacion,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Yensea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luis.cruz@jazzpharma.com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Denied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Florida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Acaria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EPI-8377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Hakimian,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Shahin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sara.buerk@jazzpharma.com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UnitedHealthcare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EPI-839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Yu,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Soka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jerica.eco@jazzpharma.com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146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Horizon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Blue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Cross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Blue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Shield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New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Jersey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Northeast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EPI-8431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Luedke,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Matthew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heather.dant@jazzpharma.com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BCBS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NORTH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CAROLINA-PRIME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THERA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EPI-8471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Singh,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Rani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heather.dant@jazzpharma.com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North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Carolina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EPI-8481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Millan,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Carlos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luis.cruz@jazzpharma.com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Denied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Oscar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EPI-8498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Pang,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Trudy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mark.finnegan@jazzpharma.com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Centene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Northeast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EPI-8514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Grayson,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Leslie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heather.dant@jazzpharma.com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48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Humana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5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5" name="Table 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79011935"/>
              </p:ext>
            </p:extLst>
          </p:nvPr>
        </p:nvGraphicFramePr>
        <p:xfrm>
          <a:off x="548640" y="548640"/>
          <a:ext cx="11091672" cy="914400"/>
        </p:xfrm>
        <a:graphic>
          <a:graphicData uri="http://schemas.openxmlformats.org/drawingml/2006/table">
            <a:tbl>
              <a:tblPr/>
              <a:tblGrid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</a:tblGrid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Patient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Prescriber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Field Team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Case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Days Past Refill Due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Status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DNF Outcome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Payer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Pharmacy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Geography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EPI-8636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Dai,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Chi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eric.winfree@jazzpharma.com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Denied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EPI-8637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Roche,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William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chad.dawkins@jazzpharma.com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Elevance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EPI-8689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Rodriguez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Hernandez,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Janice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luis.cruz@jazzpharma.com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Territory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Puerto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Rico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PR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EPI-8710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Aceves,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Jose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nicholas.firestine@jazzpharma.com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49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Texas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EPI-8786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Freedman,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Daniel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nicholas.firestine@jazzpharma.com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UNSPECIFIED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HUB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EPI-8803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Masters,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Laura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nicholas.firestine@jazzpharma.com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HUB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EPI-8895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Coryell,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Robert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sara.buerk@jazzpharma.com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EPI-8942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Thibert,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Ronald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mark.finnegan@jazzpharma.com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Denied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Capital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Rx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PBM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HUB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Northeast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EPI-896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Jarrar,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Randa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eric.winfree@jazzpharma.com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EPI-899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Diedrich,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Andrea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heather.dant@jazzpharma.com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North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Carolina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EPI-90131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Aboumatar,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Sami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nicholas.firestine@jazzpharma.com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Texas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EPI-90133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Cobo,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Nicole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tracy.scott@jazzpharma.com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Blue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Shield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California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EPI-90213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Masotti,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Valerie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heather.dant@jazzpharma.com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BLUE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CROSS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BLUE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SHIELD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NORTH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CAROLINA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EPI-90218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Benbadis,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Selim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chad.dawkins@jazzpharma.com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Florida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EPI-90234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Thaggard,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Katherine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shaniya.murphy@jazzpharma.com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EPI-90236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Randle,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Stephanie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sara.buerk@jazzpharma.com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Denied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CASH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EPI-90260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Osman,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Mohaned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randall.unzicker@jazzpharma.com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Denied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UNSPECIFIED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HUB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EPI-90369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Smith,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Douglas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randall.unzicker@jazzpharma.com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UnitedHealthcare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EPI-90391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Russo,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Samantha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chad.dawkins@jazzpharma.com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EPI-90399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Mcguire,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Lisa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joanna.janota@jazzpharma.com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222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CARESOURCE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INDIANA-EXPRESS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EPI-9040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Rodriguez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Hernandez,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Janice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luis.cruz@jazzpharma.com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Triple-S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PR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EPI-90971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Jaskiewicz,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Jennifer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heather.dant@jazzpharma.com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-3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Elevance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EPI-91018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Villalobosnieto,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Rafael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nicholas.firestine@jazzpharma.com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EPI-91053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Gianakon,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Julie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randall.unzicker@jazzpharma.com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5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6" name="Table 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79011935"/>
              </p:ext>
            </p:extLst>
          </p:nvPr>
        </p:nvGraphicFramePr>
        <p:xfrm>
          <a:off x="548640" y="548640"/>
          <a:ext cx="11091672" cy="914400"/>
        </p:xfrm>
        <a:graphic>
          <a:graphicData uri="http://schemas.openxmlformats.org/drawingml/2006/table">
            <a:tbl>
              <a:tblPr/>
              <a:tblGrid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</a:tblGrid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Patient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Prescriber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Field Team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Case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Days Past Refill Due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Status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DNF Outcome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Payer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Pharmacy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Geography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EPI-91090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Mcfadden,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Kathryn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chad.dawkins@jazzpharma.com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EPI-91199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Jordan,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Brittany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tracy.scott@jazzpharma.com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-7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Need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ARM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Attention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OptumRx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EPI-91236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Ireland,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Thomas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heather.dant@jazzpharma.com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Elevance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EPI-91262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Kalb,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Jennifer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heather.dant@jazzpharma.com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-10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OptumRx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EPI-91291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Bingham,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Peter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mark.finnegan@jazzpharma.com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New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York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Northeast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EPI-91350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Nayak,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Anuranjita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stephanie.harris@jazzpharma.com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EPI-9154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Weisenberg,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Judith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stephanie.harris@jazzpharma.com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Molina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Healthcare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EPI-91796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Reznik,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Kiersten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jerica.eco@jazzpharma.com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HIGHMARK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WHOLECARE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PA-CAREMARK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EPI-91967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Weiss,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Danielle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chad.dawkins@jazzpharma.com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EPI-920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Goldman,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Alica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stephanie.harris@jazzpharma.com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UnitedHealthcare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Acaria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EPI-9243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Labiner,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Katherine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nicholas.firestine@jazzpharma.com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Blue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Cross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Blue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Shield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Arizona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EPI-9269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Matsumoto,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Joyce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tracy.scott@jazzpharma.com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64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Need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ARM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Attention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California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Amber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EPI-9278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Asjad,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Subhana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julie.leach@jazzpharma.com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Pennsylvania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Northeast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EPI-9281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Wechsler,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Robert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eric.winfree@jazzpharma.com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Idaho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EPI-9287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Conrad,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Susan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joanna.janota@jazzpharma.com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Centene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Acaria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EPI-9291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Wolkiewicz,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Lydia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joanna.janota@jazzpharma.com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Centene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EPI-93046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Lalor,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Kathryn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shaniya.murphy@jazzpharma.com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UNSPECIFIED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HUB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EPI-9357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Ibezim,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Uloma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chad.dawkins@jazzpharma.com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Navitus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Solutions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Lumicera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EPI-9372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Garciasosa,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Rebecca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joanna.janota@jazzpharma.com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103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EPI-9440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Wadi,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Lara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heather.dant@jazzpharma.com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North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Carolina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EPI-94462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Bebin,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Elizabeth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shaniya.murphy@jazzpharma.com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EPI-9512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Mitaszka,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Katie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tracy.scott@jazzpharma.com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California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EPI-95120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Radtke,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Rodney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heather.dant@jazzpharma.com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42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EPI-955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Baumer,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Fiona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sara.buerk@jazzpharma.com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California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Acaria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EPI-95542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Barron,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Todd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michael.moll@jazzpharma.com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OptumRx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5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7" name="Table 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79011935"/>
              </p:ext>
            </p:extLst>
          </p:nvPr>
        </p:nvGraphicFramePr>
        <p:xfrm>
          <a:off x="548640" y="548640"/>
          <a:ext cx="11091672" cy="914400"/>
        </p:xfrm>
        <a:graphic>
          <a:graphicData uri="http://schemas.openxmlformats.org/drawingml/2006/table">
            <a:tbl>
              <a:tblPr/>
              <a:tblGrid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  <a:gridCol w="1109167"/>
              </a:tblGrid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Patient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Prescriber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Field Team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Case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Days Past Refill Due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Status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DNF Outcome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Payer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Pharmacy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Geography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EPI-96173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Quezada,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Timothy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jerica.eco@jazzpharma.com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172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EPI-9623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Marco,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Elysa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sara.buerk@jazzpharma.com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EPI-9624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Shah,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Darshan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nicholas.firestine@jazzpharma.com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UNSPECIFIED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HUB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EPI-9640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Kadiwala,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Hamid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nicholas.firestine@jazzpharma.com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UnitedHealthcare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EPI-9670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Von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Der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Vellen,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Gina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joanna.janota@jazzpharma.com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Acaria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Midwest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EPI-96831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Baumer,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Fiona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sara.buerk@jazzpharma.com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California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EPI-97160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Barron,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Todd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michael.moll@jazzpharma.com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UPMC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PLAN-EXPRESS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EPI-97200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Ali,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Irfan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stephanie.harris@jazzpharma.com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EPI-97267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Zempel,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John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stephanie.harris@jazzpharma.com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Service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Corporation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(HCSC)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EPI-9764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Keough,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Karen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nicholas.firestine@jazzpharma.com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Texas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Amber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EPI-9797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Royter,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Vladimir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sara.buerk@jazzpharma.com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129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California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EPI-98093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Barnes,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Gregory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joanna.janota@jazzpharma.com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-2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EPI-981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Ingemansson,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Cassandra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sara.buerk@jazzpharma.com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California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EPI-9812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Herlopian,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Aline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mark.finnegan@jazzpharma.com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28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UNSPECIFIED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HUB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Northeast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EPI-9853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Tilton,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Nicole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sara.buerk@jazzpharma.com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California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EPI-9915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Dolbec,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Katelyn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julie.leach@jazzpharma.com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29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Denied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State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Kentucky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EPI-9943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Fosterbarber,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Audrey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sara.buerk@jazzpharma.com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13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West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EPI-99766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Bell,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Andrea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tracy.scott@jazzpharma.com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24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EPI-9982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Fox,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Robert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heather.dant@jazzpharma.com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26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Operational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Hold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Elevance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Health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Caremark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EPI-99877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Klinger,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Sarah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heather.dant@jazzpharma.com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BlueCross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BlueShield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of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Carolina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Wagreens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South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EPI-99940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Palatna,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Oksana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jerica.eco@jazzpharma.com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31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Active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Coverage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Pending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Express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Scripts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Accredo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—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5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0"/>
          <p:cNvSpPr/>
          <p:nvPr/>
        </p:nvSpPr>
        <p:spPr>
          <a:xfrm>
            <a:off x="548640" y="274320"/>
            <a:ext cx="10972800" cy="457200"/>
          </a:xfrm>
          <a:prstGeom prst="rect">
            <a:avLst/>
          </a:prstGeom>
          <a:noFill/>
          <a:ln/>
        </p:spPr>
        <p:txBody>
          <a:bodyPr wrap="square" rtlCol="0" anchor="ctr"/>
          <a:lstStyle/>
          <a:p>
            <a:pPr indent="0" marL="0">
              <a:buNone/>
            </a:pPr>
            <a:r>
              <a:rPr lang="en-US" sz="1800" b="1" dirty="0">
                <a:solidFill>
                  <a:srgbClr val="1A1A1A"/>
                </a:solidFill>
              </a:rPr>
              <a:t>Reference</a:t>
            </a:r>
            <a:endParaRPr lang="en-US" sz="1800" dirty="0"/>
          </a:p>
        </p:txBody>
      </p:sp>
      <p:graphicFrame>
        <p:nvGraphicFramePr>
          <p:cNvPr id="58" name="Table 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79011935"/>
              </p:ext>
            </p:extLst>
          </p:nvPr>
        </p:nvGraphicFramePr>
        <p:xfrm>
          <a:off x="548640" y="1005840"/>
          <a:ext cx="11091672" cy="914400"/>
        </p:xfrm>
        <a:graphic>
          <a:graphicData uri="http://schemas.openxmlformats.org/drawingml/2006/table">
            <a:tbl>
              <a:tblPr/>
              <a:tblGrid>
                <a:gridCol w="5545836"/>
                <a:gridCol w="5545836"/>
              </a:tblGrid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Field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</a:rPr>
                        <a:t>Value</a:t>
                      </a:r>
                      <a:endParaRPr lang="en-US" sz="10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74151"/>
                    </a:solidFill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Metric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Impacted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·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Refill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on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Time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Window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MTD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(Aug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01,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2026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–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Aug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14,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2026)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vs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Prior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MTD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(Jul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01,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2026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–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Jul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14,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2026)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Scope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All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97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late </a:t>
                      </a:r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refills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Rows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0" marL="0">
                        <a:buNone/>
                      </a:pPr>
                      <a:r>
                        <a:rPr lang="en-US" sz="900" dirty="0">
                          <a:solidFill>
                            <a:srgbClr val="1A1A1A"/>
                          </a:solidFill>
                        </a:rPr>
                        <a:t>1357</a:t>
                      </a:r>
                      <a:endParaRPr lang="en-US" sz="900" dirty="0"/>
                    </a:p>
                  </a:txBody>
                  <a:tcPr marL="91440" marR="91440" marT="45720" marB="45720" anchor="ctr">
                    <a:lnL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5E7E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0</TotalTime>
  <Words>0</Words>
  <Application>Microsoft Office PowerPoint</Application>
  <PresentationFormat>On-screen Show (16:9)</PresentationFormat>
  <Paragraphs>0</Paragraphs>
  <Slides>57</Slides>
  <Notes>57</Notes>
  <HiddenSlides>0</HiddenSlides>
  <MMClips>0</MMClips>
  <ScaleCrop>false</ScaleCrop>
  <HeadingPairs>
    <vt:vector size="6" baseType="variant">
      <vt:variant>
        <vt:lpstr>Fonts Used</vt:lpstr>
      </vt:variant>
      <vt:variant>
        <vt:i4>2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57</vt:i4>
      </vt:variant>
    </vt:vector>
  </HeadingPairs>
  <TitlesOfParts>
    <vt:vector size="60" baseType="lpstr">
      <vt:lpstr>Arial</vt:lpstr>
      <vt:lpstr>Calibri</vt:lpstr>
      <vt:lpstr>Office Theme</vt:lpstr>
      <vt:lpstr>Slide 1</vt:lpstr>
      <vt:lpstr>Slide 2</vt:lpstr>
      <vt:lpstr>Slide 3</vt:lpstr>
      <vt:lpstr>Slide 4</vt:lpstr>
      <vt:lpstr>Slide 5</vt:lpstr>
      <vt:lpstr>Slide 6</vt:lpstr>
      <vt:lpstr>Slide 7</vt:lpstr>
      <vt:lpstr>Slide 8</vt:lpstr>
      <vt:lpstr>Slide 9</vt:lpstr>
      <vt:lpstr>Slide 10</vt:lpstr>
      <vt:lpstr>Slide 11</vt:lpstr>
      <vt:lpstr>Slide 12</vt:lpstr>
      <vt:lpstr>Slide 13</vt:lpstr>
      <vt:lpstr>Slide 14</vt:lpstr>
      <vt:lpstr>Slide 15</vt:lpstr>
      <vt:lpstr>Slide 16</vt:lpstr>
      <vt:lpstr>Slide 17</vt:lpstr>
      <vt:lpstr>Slide 18</vt:lpstr>
      <vt:lpstr>Slide 19</vt:lpstr>
      <vt:lpstr>Slide 20</vt:lpstr>
      <vt:lpstr>Slide 21</vt:lpstr>
      <vt:lpstr>Slide 22</vt:lpstr>
      <vt:lpstr>Slide 23</vt:lpstr>
      <vt:lpstr>Slide 24</vt:lpstr>
      <vt:lpstr>Slide 25</vt:lpstr>
      <vt:lpstr>Slide 26</vt:lpstr>
      <vt:lpstr>Slide 27</vt:lpstr>
      <vt:lpstr>Slide 28</vt:lpstr>
      <vt:lpstr>Slide 29</vt:lpstr>
      <vt:lpstr>Slide 30</vt:lpstr>
      <vt:lpstr>Slide 31</vt:lpstr>
      <vt:lpstr>Slide 32</vt:lpstr>
      <vt:lpstr>Slide 33</vt:lpstr>
      <vt:lpstr>Slide 34</vt:lpstr>
      <vt:lpstr>Slide 35</vt:lpstr>
      <vt:lpstr>Slide 36</vt:lpstr>
      <vt:lpstr>Slide 37</vt:lpstr>
      <vt:lpstr>Slide 38</vt:lpstr>
      <vt:lpstr>Slide 39</vt:lpstr>
      <vt:lpstr>Slide 40</vt:lpstr>
      <vt:lpstr>Slide 41</vt:lpstr>
      <vt:lpstr>Slide 42</vt:lpstr>
      <vt:lpstr>Slide 43</vt:lpstr>
      <vt:lpstr>Slide 44</vt:lpstr>
      <vt:lpstr>Slide 45</vt:lpstr>
      <vt:lpstr>Slide 46</vt:lpstr>
      <vt:lpstr>Slide 47</vt:lpstr>
      <vt:lpstr>Slide 48</vt:lpstr>
      <vt:lpstr>Slide 49</vt:lpstr>
      <vt:lpstr>Slide 50</vt:lpstr>
      <vt:lpstr>Slide 51</vt:lpstr>
      <vt:lpstr>Slide 52</vt:lpstr>
      <vt:lpstr>Slide 53</vt:lpstr>
      <vt:lpstr>Slide 54</vt:lpstr>
      <vt:lpstr>Slide 55</vt:lpstr>
      <vt:lpstr>Slide 56</vt:lpstr>
      <vt:lpstr>Slide 57</vt:lpstr>
    </vt:vector>
  </TitlesOfParts>
  <Company>PptxGenJS</Company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PptxGenJS Presentation</dc:title>
  <dc:subject>PptxGenJS Presentation</dc:subject>
  <dc:creator>PptxGenJS</dc:creator>
  <cp:lastModifiedBy>PptxGenJS</cp:lastModifiedBy>
  <cp:revision>1</cp:revision>
  <dcterms:created xsi:type="dcterms:W3CDTF">2026-08-21T10:59:33Z</dcterms:created>
  <dcterms:modified xsi:type="dcterms:W3CDTF">2026-08-21T10:59:33Z</dcterms:modified>
</cp:coreProperties>
</file>